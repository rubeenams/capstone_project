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Lst>
  <p:sldSz cx="18288000" cy="10287000"/>
  <p:notesSz cx="6858000" cy="9144000"/>
  <p:embeddedFontLst>
    <p:embeddedFont>
      <p:font typeface="Montserrat Bold" charset="1" panose="00000800000000000000"/>
      <p:regular r:id="rId20"/>
    </p:embeddedFont>
    <p:embeddedFont>
      <p:font typeface="Montserrat" charset="1" panose="00000500000000000000"/>
      <p:regular r:id="rId21"/>
    </p:embeddedFont>
    <p:embeddedFont>
      <p:font typeface="Montserrat Semi-Bold" charset="1" panose="00000700000000000000"/>
      <p:regular r:id="rId2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22" Target="fonts/font22.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jpeg" Type="http://schemas.openxmlformats.org/officeDocument/2006/relationships/image"/><Relationship Id="rId3" Target="../media/image4.png" Type="http://schemas.openxmlformats.org/officeDocument/2006/relationships/image"/><Relationship Id="rId4" Target="../media/image5.svg" Type="http://schemas.openxmlformats.org/officeDocument/2006/relationships/image"/><Relationship Id="rId5" Target="../media/image7.png" Type="http://schemas.openxmlformats.org/officeDocument/2006/relationships/image"/><Relationship Id="rId6" Target="../media/image8.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jpeg" Type="http://schemas.openxmlformats.org/officeDocument/2006/relationships/image"/><Relationship Id="rId3" Target="../media/image4.png" Type="http://schemas.openxmlformats.org/officeDocument/2006/relationships/image"/><Relationship Id="rId4" Target="../media/image5.svg" Type="http://schemas.openxmlformats.org/officeDocument/2006/relationships/image"/><Relationship Id="rId5" Target="../media/image9.png" Type="http://schemas.openxmlformats.org/officeDocument/2006/relationships/image"/><Relationship Id="rId6" Target="../media/image10.svg" Type="http://schemas.openxmlformats.org/officeDocument/2006/relationships/image"/><Relationship Id="rId7" Target="../media/image11.png" Type="http://schemas.openxmlformats.org/officeDocument/2006/relationships/image"/><Relationship Id="rId8" Target="../media/image12.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jpeg" Type="http://schemas.openxmlformats.org/officeDocument/2006/relationships/image"/><Relationship Id="rId3" Target="../media/image4.png" Type="http://schemas.openxmlformats.org/officeDocument/2006/relationships/image"/><Relationship Id="rId4" Target="../media/image5.svg" Type="http://schemas.openxmlformats.org/officeDocument/2006/relationships/image"/><Relationship Id="rId5" Target="../media/image13.png" Type="http://schemas.openxmlformats.org/officeDocument/2006/relationships/image"/><Relationship Id="rId6" Target="../media/image14.svg" Type="http://schemas.openxmlformats.org/officeDocument/2006/relationships/image"/><Relationship Id="rId7" Target="../media/image15.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jpeg" Type="http://schemas.openxmlformats.org/officeDocument/2006/relationships/image"/><Relationship Id="rId3" Target="../media/image4.png" Type="http://schemas.openxmlformats.org/officeDocument/2006/relationships/image"/><Relationship Id="rId4" Target="../media/image5.svg" Type="http://schemas.openxmlformats.org/officeDocument/2006/relationships/image"/><Relationship Id="rId5" Target="../media/image16.png" Type="http://schemas.openxmlformats.org/officeDocument/2006/relationships/image"/><Relationship Id="rId6" Target="../media/image17.svg" Type="http://schemas.openxmlformats.org/officeDocument/2006/relationships/image"/><Relationship Id="rId7" Target="../media/image18.png" Type="http://schemas.openxmlformats.org/officeDocument/2006/relationships/image"/><Relationship Id="rId8" Target="../media/image19.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jpeg" Type="http://schemas.openxmlformats.org/officeDocument/2006/relationships/image"/><Relationship Id="rId3" Target="../media/image4.png" Type="http://schemas.openxmlformats.org/officeDocument/2006/relationships/image"/><Relationship Id="rId4" Target="../media/image5.svg" Type="http://schemas.openxmlformats.org/officeDocument/2006/relationships/image"/><Relationship Id="rId5" Target="../media/image20.png" Type="http://schemas.openxmlformats.org/officeDocument/2006/relationships/image"/><Relationship Id="rId6" Target="../media/image21.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jpeg" Type="http://schemas.openxmlformats.org/officeDocument/2006/relationships/image"/><Relationship Id="rId3" Target="../media/image4.png" Type="http://schemas.openxmlformats.org/officeDocument/2006/relationships/image"/><Relationship Id="rId4" Target="../media/image5.svg" Type="http://schemas.openxmlformats.org/officeDocument/2006/relationships/image"/><Relationship Id="rId5" Target="../media/image22.png" Type="http://schemas.openxmlformats.org/officeDocument/2006/relationships/image"/><Relationship Id="rId6" Target="../media/image23.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jpeg" Type="http://schemas.openxmlformats.org/officeDocument/2006/relationships/image"/><Relationship Id="rId3" Target="../media/image4.png" Type="http://schemas.openxmlformats.org/officeDocument/2006/relationships/image"/><Relationship Id="rId4" Target="../media/image5.svg" Type="http://schemas.openxmlformats.org/officeDocument/2006/relationships/image"/><Relationship Id="rId5" Target="../media/image24.png" Type="http://schemas.openxmlformats.org/officeDocument/2006/relationships/image"/><Relationship Id="rId6" Target="../media/image25.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jpeg" Type="http://schemas.openxmlformats.org/officeDocument/2006/relationships/image"/><Relationship Id="rId3" Target="../media/image4.png" Type="http://schemas.openxmlformats.org/officeDocument/2006/relationships/image"/><Relationship Id="rId4" Target="../media/image5.svg" Type="http://schemas.openxmlformats.org/officeDocument/2006/relationships/image"/><Relationship Id="rId5" Target="../media/image26.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jpeg" Type="http://schemas.openxmlformats.org/officeDocument/2006/relationships/image"/><Relationship Id="rId3" Target="../media/image4.png" Type="http://schemas.openxmlformats.org/officeDocument/2006/relationships/image"/><Relationship Id="rId4" Target="../media/image5.svg" Type="http://schemas.openxmlformats.org/officeDocument/2006/relationships/image"/><Relationship Id="rId5" Target="../media/image27.png" Type="http://schemas.openxmlformats.org/officeDocument/2006/relationships/image"/><Relationship Id="rId6" Target="../media/image28.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jpeg" Type="http://schemas.openxmlformats.org/officeDocument/2006/relationships/image"/><Relationship Id="rId3" Target="../media/image4.png" Type="http://schemas.openxmlformats.org/officeDocument/2006/relationships/image"/><Relationship Id="rId4" Target="../media/image5.svg" Type="http://schemas.openxmlformats.org/officeDocument/2006/relationships/image"/><Relationship Id="rId5" Target="../media/image29.png" Type="http://schemas.openxmlformats.org/officeDocument/2006/relationships/image"/><Relationship Id="rId6" Target="../media/image30.sv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jpeg" Type="http://schemas.openxmlformats.org/officeDocument/2006/relationships/image"/><Relationship Id="rId3" Target="../media/image4.png" Type="http://schemas.openxmlformats.org/officeDocument/2006/relationships/image"/><Relationship Id="rId4" Target="../media/image5.svg" Type="http://schemas.openxmlformats.org/officeDocument/2006/relationships/image"/><Relationship Id="rId5" Target="../media/image31.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jpeg" Type="http://schemas.openxmlformats.org/officeDocument/2006/relationships/image"/><Relationship Id="rId3" Target="../media/image4.png" Type="http://schemas.openxmlformats.org/officeDocument/2006/relationships/image"/><Relationship Id="rId4" Target="../media/image5.svg" Type="http://schemas.openxmlformats.org/officeDocument/2006/relationships/image"/><Relationship Id="rId5" Target="../media/image32.png" Type="http://schemas.openxmlformats.org/officeDocument/2006/relationships/image"/><Relationship Id="rId6" Target="../media/image33.svg" Type="http://schemas.openxmlformats.org/officeDocument/2006/relationships/image"/><Relationship Id="rId7" Target="../media/image34.png" Type="http://schemas.openxmlformats.org/officeDocument/2006/relationships/image"/><Relationship Id="rId8" Target="../media/image35.sv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41.svg" Type="http://schemas.openxmlformats.org/officeDocument/2006/relationships/image"/><Relationship Id="rId2" Target="../media/image1.jpeg" Type="http://schemas.openxmlformats.org/officeDocument/2006/relationships/image"/><Relationship Id="rId3" Target="../media/image4.png" Type="http://schemas.openxmlformats.org/officeDocument/2006/relationships/image"/><Relationship Id="rId4" Target="../media/image5.svg" Type="http://schemas.openxmlformats.org/officeDocument/2006/relationships/image"/><Relationship Id="rId5" Target="../media/image36.png" Type="http://schemas.openxmlformats.org/officeDocument/2006/relationships/image"/><Relationship Id="rId6" Target="../media/image37.svg" Type="http://schemas.openxmlformats.org/officeDocument/2006/relationships/image"/><Relationship Id="rId7" Target="../media/image38.png" Type="http://schemas.openxmlformats.org/officeDocument/2006/relationships/image"/><Relationship Id="rId8" Target="../media/image39.svg" Type="http://schemas.openxmlformats.org/officeDocument/2006/relationships/image"/><Relationship Id="rId9" Target="../media/image40.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false" rot="0">
            <a:off x="0" y="0"/>
            <a:ext cx="18288000" cy="10287000"/>
          </a:xfrm>
          <a:custGeom>
            <a:avLst/>
            <a:gdLst/>
            <a:ahLst/>
            <a:cxnLst/>
            <a:rect r="r" b="b" t="t" l="l"/>
            <a:pathLst>
              <a:path h="10287000" w="18288000">
                <a:moveTo>
                  <a:pt x="18288000" y="0"/>
                </a:moveTo>
                <a:lnTo>
                  <a:pt x="0" y="0"/>
                </a:lnTo>
                <a:lnTo>
                  <a:pt x="0" y="10287000"/>
                </a:lnTo>
                <a:lnTo>
                  <a:pt x="18288000" y="10287000"/>
                </a:lnTo>
                <a:lnTo>
                  <a:pt x="18288000" y="0"/>
                </a:lnTo>
                <a:close/>
              </a:path>
            </a:pathLst>
          </a:custGeom>
          <a:blipFill>
            <a:blip r:embed="rId2"/>
            <a:stretch>
              <a:fillRect l="0" t="-9222" r="0" b="-9222"/>
            </a:stretch>
          </a:blipFill>
        </p:spPr>
      </p:sp>
      <p:sp>
        <p:nvSpPr>
          <p:cNvPr name="Freeform 3" id="3"/>
          <p:cNvSpPr/>
          <p:nvPr/>
        </p:nvSpPr>
        <p:spPr>
          <a:xfrm flipH="false" flipV="false" rot="0">
            <a:off x="9144000" y="1727486"/>
            <a:ext cx="9954803" cy="9991134"/>
          </a:xfrm>
          <a:custGeom>
            <a:avLst/>
            <a:gdLst/>
            <a:ahLst/>
            <a:cxnLst/>
            <a:rect r="r" b="b" t="t" l="l"/>
            <a:pathLst>
              <a:path h="9991134" w="9954803">
                <a:moveTo>
                  <a:pt x="0" y="0"/>
                </a:moveTo>
                <a:lnTo>
                  <a:pt x="9954803" y="0"/>
                </a:lnTo>
                <a:lnTo>
                  <a:pt x="9954803" y="9991134"/>
                </a:lnTo>
                <a:lnTo>
                  <a:pt x="0" y="999113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4" id="4"/>
          <p:cNvSpPr txBox="true"/>
          <p:nvPr/>
        </p:nvSpPr>
        <p:spPr>
          <a:xfrm rot="0">
            <a:off x="1187358" y="3416997"/>
            <a:ext cx="13702705" cy="1932341"/>
          </a:xfrm>
          <a:prstGeom prst="rect">
            <a:avLst/>
          </a:prstGeom>
        </p:spPr>
        <p:txBody>
          <a:bodyPr anchor="t" rtlCol="false" tIns="0" lIns="0" bIns="0" rIns="0">
            <a:spAutoFit/>
          </a:bodyPr>
          <a:lstStyle/>
          <a:p>
            <a:pPr algn="l">
              <a:lnSpc>
                <a:spcPts val="7360"/>
              </a:lnSpc>
            </a:pPr>
            <a:r>
              <a:rPr lang="en-US" b="true" sz="8001" spc="-352">
                <a:solidFill>
                  <a:srgbClr val="FFFFFF"/>
                </a:solidFill>
                <a:latin typeface="Montserrat Bold"/>
                <a:ea typeface="Montserrat Bold"/>
                <a:cs typeface="Montserrat Bold"/>
                <a:sym typeface="Montserrat Bold"/>
              </a:rPr>
              <a:t>DATA-DRIVEN CUSTOMER DIAGNOSIS</a:t>
            </a:r>
          </a:p>
        </p:txBody>
      </p:sp>
      <p:grpSp>
        <p:nvGrpSpPr>
          <p:cNvPr name="Group 5" id="5"/>
          <p:cNvGrpSpPr/>
          <p:nvPr/>
        </p:nvGrpSpPr>
        <p:grpSpPr>
          <a:xfrm rot="0">
            <a:off x="1187358" y="1028700"/>
            <a:ext cx="3358628" cy="702867"/>
            <a:chOff x="0" y="0"/>
            <a:chExt cx="4478171" cy="937156"/>
          </a:xfrm>
        </p:grpSpPr>
        <p:grpSp>
          <p:nvGrpSpPr>
            <p:cNvPr name="Group 6" id="6"/>
            <p:cNvGrpSpPr/>
            <p:nvPr/>
          </p:nvGrpSpPr>
          <p:grpSpPr>
            <a:xfrm rot="0">
              <a:off x="0" y="0"/>
              <a:ext cx="4478171" cy="937156"/>
              <a:chOff x="0" y="0"/>
              <a:chExt cx="884577" cy="185117"/>
            </a:xfrm>
          </p:grpSpPr>
          <p:sp>
            <p:nvSpPr>
              <p:cNvPr name="Freeform 7" id="7"/>
              <p:cNvSpPr/>
              <p:nvPr/>
            </p:nvSpPr>
            <p:spPr>
              <a:xfrm flipH="false" flipV="false" rot="0">
                <a:off x="0" y="0"/>
                <a:ext cx="884577" cy="185117"/>
              </a:xfrm>
              <a:custGeom>
                <a:avLst/>
                <a:gdLst/>
                <a:ahLst/>
                <a:cxnLst/>
                <a:rect r="r" b="b" t="t" l="l"/>
                <a:pathLst>
                  <a:path h="185117" w="884577">
                    <a:moveTo>
                      <a:pt x="80678" y="0"/>
                    </a:moveTo>
                    <a:lnTo>
                      <a:pt x="803899" y="0"/>
                    </a:lnTo>
                    <a:cubicBezTo>
                      <a:pt x="848456" y="0"/>
                      <a:pt x="884577" y="36121"/>
                      <a:pt x="884577" y="80678"/>
                    </a:cubicBezTo>
                    <a:lnTo>
                      <a:pt x="884577" y="104439"/>
                    </a:lnTo>
                    <a:cubicBezTo>
                      <a:pt x="884577" y="148996"/>
                      <a:pt x="848456" y="185117"/>
                      <a:pt x="803899" y="185117"/>
                    </a:cubicBezTo>
                    <a:lnTo>
                      <a:pt x="80678" y="185117"/>
                    </a:lnTo>
                    <a:cubicBezTo>
                      <a:pt x="59281" y="185117"/>
                      <a:pt x="38760" y="176617"/>
                      <a:pt x="23630" y="161487"/>
                    </a:cubicBezTo>
                    <a:cubicBezTo>
                      <a:pt x="8500" y="146357"/>
                      <a:pt x="0" y="125836"/>
                      <a:pt x="0" y="104439"/>
                    </a:cubicBezTo>
                    <a:lnTo>
                      <a:pt x="0" y="80678"/>
                    </a:lnTo>
                    <a:cubicBezTo>
                      <a:pt x="0" y="36121"/>
                      <a:pt x="36121" y="0"/>
                      <a:pt x="80678" y="0"/>
                    </a:cubicBezTo>
                    <a:close/>
                  </a:path>
                </a:pathLst>
              </a:custGeom>
              <a:ln w="19050" cap="rnd">
                <a:solidFill>
                  <a:srgbClr val="FFFFFF"/>
                </a:solidFill>
                <a:prstDash val="solid"/>
                <a:round/>
              </a:ln>
            </p:spPr>
          </p:sp>
          <p:sp>
            <p:nvSpPr>
              <p:cNvPr name="TextBox 8" id="8"/>
              <p:cNvSpPr txBox="true"/>
              <p:nvPr/>
            </p:nvSpPr>
            <p:spPr>
              <a:xfrm>
                <a:off x="0" y="-38100"/>
                <a:ext cx="884577" cy="223217"/>
              </a:xfrm>
              <a:prstGeom prst="rect">
                <a:avLst/>
              </a:prstGeom>
            </p:spPr>
            <p:txBody>
              <a:bodyPr anchor="ctr" rtlCol="false" tIns="50800" lIns="50800" bIns="50800" rIns="50800"/>
              <a:lstStyle/>
              <a:p>
                <a:pPr algn="ctr">
                  <a:lnSpc>
                    <a:spcPts val="3359"/>
                  </a:lnSpc>
                </a:pPr>
              </a:p>
            </p:txBody>
          </p:sp>
        </p:grpSp>
        <p:sp>
          <p:nvSpPr>
            <p:cNvPr name="TextBox 9" id="9"/>
            <p:cNvSpPr txBox="true"/>
            <p:nvPr/>
          </p:nvSpPr>
          <p:spPr>
            <a:xfrm rot="0">
              <a:off x="230953" y="215668"/>
              <a:ext cx="4042048" cy="462280"/>
            </a:xfrm>
            <a:prstGeom prst="rect">
              <a:avLst/>
            </a:prstGeom>
          </p:spPr>
          <p:txBody>
            <a:bodyPr anchor="t" rtlCol="false" tIns="0" lIns="0" bIns="0" rIns="0">
              <a:spAutoFit/>
            </a:bodyPr>
            <a:lstStyle/>
            <a:p>
              <a:pPr algn="ctr">
                <a:lnSpc>
                  <a:spcPts val="2940"/>
                </a:lnSpc>
                <a:spcBef>
                  <a:spcPct val="0"/>
                </a:spcBef>
              </a:pPr>
              <a:r>
                <a:rPr lang="en-US" sz="2100" spc="-63">
                  <a:solidFill>
                    <a:srgbClr val="FFFFFF"/>
                  </a:solidFill>
                  <a:latin typeface="Montserrat"/>
                  <a:ea typeface="Montserrat"/>
                  <a:cs typeface="Montserrat"/>
                  <a:sym typeface="Montserrat"/>
                </a:rPr>
                <a:t>BUSINESS ANALYTICS</a:t>
              </a:r>
            </a:p>
          </p:txBody>
        </p:sp>
      </p:grpSp>
      <p:sp>
        <p:nvSpPr>
          <p:cNvPr name="Freeform 10" id="10"/>
          <p:cNvSpPr/>
          <p:nvPr/>
        </p:nvSpPr>
        <p:spPr>
          <a:xfrm flipH="false" flipV="false" rot="0">
            <a:off x="16655004" y="1203397"/>
            <a:ext cx="604296" cy="349393"/>
          </a:xfrm>
          <a:custGeom>
            <a:avLst/>
            <a:gdLst/>
            <a:ahLst/>
            <a:cxnLst/>
            <a:rect r="r" b="b" t="t" l="l"/>
            <a:pathLst>
              <a:path h="349393" w="604296">
                <a:moveTo>
                  <a:pt x="0" y="0"/>
                </a:moveTo>
                <a:lnTo>
                  <a:pt x="604296" y="0"/>
                </a:lnTo>
                <a:lnTo>
                  <a:pt x="604296" y="349393"/>
                </a:lnTo>
                <a:lnTo>
                  <a:pt x="0" y="349393"/>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11" id="11"/>
          <p:cNvSpPr txBox="true"/>
          <p:nvPr/>
        </p:nvSpPr>
        <p:spPr>
          <a:xfrm rot="0">
            <a:off x="471905" y="6234817"/>
            <a:ext cx="8992703" cy="356235"/>
          </a:xfrm>
          <a:prstGeom prst="rect">
            <a:avLst/>
          </a:prstGeom>
        </p:spPr>
        <p:txBody>
          <a:bodyPr anchor="t" rtlCol="false" tIns="0" lIns="0" bIns="0" rIns="0">
            <a:spAutoFit/>
          </a:bodyPr>
          <a:lstStyle/>
          <a:p>
            <a:pPr algn="ctr">
              <a:lnSpc>
                <a:spcPts val="2940"/>
              </a:lnSpc>
              <a:spcBef>
                <a:spcPct val="0"/>
              </a:spcBef>
            </a:pPr>
            <a:r>
              <a:rPr lang="en-US" sz="2100" spc="-63">
                <a:solidFill>
                  <a:srgbClr val="FFFFFF"/>
                </a:solidFill>
                <a:latin typeface="Montserrat"/>
                <a:ea typeface="Montserrat"/>
                <a:cs typeface="Montserrat"/>
                <a:sym typeface="Montserrat"/>
              </a:rPr>
              <a:t>APPLYING STATISTICAL PROOFS TO ACCOUNT LONGEVITY</a:t>
            </a:r>
          </a:p>
        </p:txBody>
      </p:sp>
      <p:sp>
        <p:nvSpPr>
          <p:cNvPr name="TextBox 12" id="12"/>
          <p:cNvSpPr txBox="true"/>
          <p:nvPr/>
        </p:nvSpPr>
        <p:spPr>
          <a:xfrm rot="0">
            <a:off x="13543416" y="9810434"/>
            <a:ext cx="4951363" cy="264160"/>
          </a:xfrm>
          <a:prstGeom prst="rect">
            <a:avLst/>
          </a:prstGeom>
        </p:spPr>
        <p:txBody>
          <a:bodyPr anchor="t" rtlCol="false" tIns="0" lIns="0" bIns="0" rIns="0">
            <a:spAutoFit/>
          </a:bodyPr>
          <a:lstStyle/>
          <a:p>
            <a:pPr algn="l">
              <a:lnSpc>
                <a:spcPts val="2239"/>
              </a:lnSpc>
              <a:spcBef>
                <a:spcPct val="0"/>
              </a:spcBef>
            </a:pPr>
            <a:r>
              <a:rPr lang="en-US" b="true" sz="1599" spc="-47">
                <a:solidFill>
                  <a:srgbClr val="FFFFFF"/>
                </a:solidFill>
                <a:latin typeface="Montserrat Semi-Bold"/>
                <a:ea typeface="Montserrat Semi-Bold"/>
                <a:cs typeface="Montserrat Semi-Bold"/>
                <a:sym typeface="Montserrat Semi-Bold"/>
              </a:rPr>
              <a:t>Data Science Capstone Portfolio | June 2026</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false" rot="0">
            <a:off x="0" y="0"/>
            <a:ext cx="18288000" cy="10287000"/>
          </a:xfrm>
          <a:custGeom>
            <a:avLst/>
            <a:gdLst/>
            <a:ahLst/>
            <a:cxnLst/>
            <a:rect r="r" b="b" t="t" l="l"/>
            <a:pathLst>
              <a:path h="10287000" w="18288000">
                <a:moveTo>
                  <a:pt x="18288000" y="0"/>
                </a:moveTo>
                <a:lnTo>
                  <a:pt x="0" y="0"/>
                </a:lnTo>
                <a:lnTo>
                  <a:pt x="0" y="10287000"/>
                </a:lnTo>
                <a:lnTo>
                  <a:pt x="18288000" y="10287000"/>
                </a:lnTo>
                <a:lnTo>
                  <a:pt x="18288000" y="0"/>
                </a:lnTo>
                <a:close/>
              </a:path>
            </a:pathLst>
          </a:custGeom>
          <a:blipFill>
            <a:blip r:embed="rId2"/>
            <a:stretch>
              <a:fillRect l="0" t="-9222" r="0" b="-9222"/>
            </a:stretch>
          </a:blipFill>
        </p:spPr>
      </p:sp>
      <p:sp>
        <p:nvSpPr>
          <p:cNvPr name="Freeform 3" id="3"/>
          <p:cNvSpPr/>
          <p:nvPr/>
        </p:nvSpPr>
        <p:spPr>
          <a:xfrm flipH="false" flipV="false" rot="0">
            <a:off x="16655004" y="1203397"/>
            <a:ext cx="604296" cy="349393"/>
          </a:xfrm>
          <a:custGeom>
            <a:avLst/>
            <a:gdLst/>
            <a:ahLst/>
            <a:cxnLst/>
            <a:rect r="r" b="b" t="t" l="l"/>
            <a:pathLst>
              <a:path h="349393" w="604296">
                <a:moveTo>
                  <a:pt x="0" y="0"/>
                </a:moveTo>
                <a:lnTo>
                  <a:pt x="604296" y="0"/>
                </a:lnTo>
                <a:lnTo>
                  <a:pt x="604296" y="349393"/>
                </a:lnTo>
                <a:lnTo>
                  <a:pt x="0" y="34939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1087760" y="2453892"/>
            <a:ext cx="5567243" cy="6804408"/>
          </a:xfrm>
          <a:custGeom>
            <a:avLst/>
            <a:gdLst/>
            <a:ahLst/>
            <a:cxnLst/>
            <a:rect r="r" b="b" t="t" l="l"/>
            <a:pathLst>
              <a:path h="6804408" w="5567243">
                <a:moveTo>
                  <a:pt x="0" y="0"/>
                </a:moveTo>
                <a:lnTo>
                  <a:pt x="5567244" y="0"/>
                </a:lnTo>
                <a:lnTo>
                  <a:pt x="5567244" y="6804408"/>
                </a:lnTo>
                <a:lnTo>
                  <a:pt x="0" y="6804408"/>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5" id="5"/>
          <p:cNvSpPr txBox="true"/>
          <p:nvPr/>
        </p:nvSpPr>
        <p:spPr>
          <a:xfrm rot="0">
            <a:off x="491242" y="1174647"/>
            <a:ext cx="15151138" cy="832485"/>
          </a:xfrm>
          <a:prstGeom prst="rect">
            <a:avLst/>
          </a:prstGeom>
        </p:spPr>
        <p:txBody>
          <a:bodyPr anchor="t" rtlCol="false" tIns="0" lIns="0" bIns="0" rIns="0">
            <a:spAutoFit/>
          </a:bodyPr>
          <a:lstStyle/>
          <a:p>
            <a:pPr algn="l">
              <a:lnSpc>
                <a:spcPts val="6420"/>
              </a:lnSpc>
            </a:pPr>
            <a:r>
              <a:rPr lang="en-US" sz="6000" spc="-264" b="true">
                <a:solidFill>
                  <a:srgbClr val="FFFFFF"/>
                </a:solidFill>
                <a:latin typeface="Montserrat Bold"/>
                <a:ea typeface="Montserrat Bold"/>
                <a:cs typeface="Montserrat Bold"/>
                <a:sym typeface="Montserrat Bold"/>
              </a:rPr>
              <a:t>Executive Summary &amp; Financial Impact</a:t>
            </a:r>
          </a:p>
        </p:txBody>
      </p:sp>
      <p:sp>
        <p:nvSpPr>
          <p:cNvPr name="TextBox 6" id="6"/>
          <p:cNvSpPr txBox="true"/>
          <p:nvPr/>
        </p:nvSpPr>
        <p:spPr>
          <a:xfrm rot="0">
            <a:off x="858636" y="3327160"/>
            <a:ext cx="9995950" cy="3755206"/>
          </a:xfrm>
          <a:prstGeom prst="rect">
            <a:avLst/>
          </a:prstGeom>
        </p:spPr>
        <p:txBody>
          <a:bodyPr anchor="t" rtlCol="false" tIns="0" lIns="0" bIns="0" rIns="0">
            <a:spAutoFit/>
          </a:bodyPr>
          <a:lstStyle/>
          <a:p>
            <a:pPr algn="just">
              <a:lnSpc>
                <a:spcPts val="2495"/>
              </a:lnSpc>
              <a:spcBef>
                <a:spcPct val="0"/>
              </a:spcBef>
            </a:pPr>
            <a:r>
              <a:rPr lang="en-US" sz="1782">
                <a:solidFill>
                  <a:srgbClr val="FFFFFF"/>
                </a:solidFill>
                <a:latin typeface="Montserrat"/>
                <a:ea typeface="Montserrat"/>
                <a:cs typeface="Montserrat"/>
                <a:sym typeface="Montserrat"/>
              </a:rPr>
              <a:t>The C</a:t>
            </a:r>
            <a:r>
              <a:rPr lang="en-US" sz="1782">
                <a:solidFill>
                  <a:srgbClr val="FFFFFF"/>
                </a:solidFill>
                <a:latin typeface="Montserrat"/>
                <a:ea typeface="Montserrat"/>
                <a:cs typeface="Montserrat"/>
                <a:sym typeface="Montserrat"/>
              </a:rPr>
              <a:t>ore Discovery: Ingesting and evaluating our 500-customer baseline matrix reveals a 10.60% macroscopic churn rate (53 total account dropouts).</a:t>
            </a:r>
          </a:p>
          <a:p>
            <a:pPr algn="just">
              <a:lnSpc>
                <a:spcPts val="2495"/>
              </a:lnSpc>
              <a:spcBef>
                <a:spcPct val="0"/>
              </a:spcBef>
            </a:pPr>
          </a:p>
          <a:p>
            <a:pPr algn="just">
              <a:lnSpc>
                <a:spcPts val="2495"/>
              </a:lnSpc>
              <a:spcBef>
                <a:spcPct val="0"/>
              </a:spcBef>
            </a:pPr>
            <a:r>
              <a:rPr lang="en-US" sz="1782">
                <a:solidFill>
                  <a:srgbClr val="FFFFFF"/>
                </a:solidFill>
                <a:latin typeface="Montserrat"/>
                <a:ea typeface="Montserrat"/>
                <a:cs typeface="Montserrat"/>
                <a:sym typeface="Montserrat"/>
              </a:rPr>
              <a:t>The Financial Leakage: While 10.60% looks manageable on the surface, a deep dive shows that churning accounts are disproportionately premium-tier subscribers.</a:t>
            </a:r>
          </a:p>
          <a:p>
            <a:pPr algn="just">
              <a:lnSpc>
                <a:spcPts val="2495"/>
              </a:lnSpc>
              <a:spcBef>
                <a:spcPct val="0"/>
              </a:spcBef>
            </a:pPr>
          </a:p>
          <a:p>
            <a:pPr algn="just">
              <a:lnSpc>
                <a:spcPts val="2495"/>
              </a:lnSpc>
              <a:spcBef>
                <a:spcPct val="0"/>
              </a:spcBef>
            </a:pPr>
            <a:r>
              <a:rPr lang="en-US" sz="1782">
                <a:solidFill>
                  <a:srgbClr val="FFFFFF"/>
                </a:solidFill>
                <a:latin typeface="Montserrat"/>
                <a:ea typeface="Montserrat"/>
                <a:cs typeface="Montserrat"/>
                <a:sym typeface="Montserrat"/>
              </a:rPr>
              <a:t>The Bottom-Line Exposure: This concentrated dropout results in an immediate leak of $6,878.00 in Monthly Recurring Revenue (MRR), scaling into an $82,536.00 annualized run-rate loss.</a:t>
            </a:r>
          </a:p>
          <a:p>
            <a:pPr algn="just">
              <a:lnSpc>
                <a:spcPts val="2495"/>
              </a:lnSpc>
              <a:spcBef>
                <a:spcPct val="0"/>
              </a:spcBef>
            </a:pPr>
          </a:p>
          <a:p>
            <a:pPr algn="just">
              <a:lnSpc>
                <a:spcPts val="2495"/>
              </a:lnSpc>
              <a:spcBef>
                <a:spcPct val="0"/>
              </a:spcBef>
            </a:pPr>
            <a:r>
              <a:rPr lang="en-US" sz="1782">
                <a:solidFill>
                  <a:srgbClr val="FFFFFF"/>
                </a:solidFill>
                <a:latin typeface="Montserrat"/>
                <a:ea typeface="Montserrat"/>
                <a:cs typeface="Montserrat"/>
                <a:sym typeface="Montserrat"/>
              </a:rPr>
              <a:t>Strategic Objective: Shift from reactive firefighting to a data-backed retention framework built on empirical statistical validation.</a:t>
            </a:r>
          </a:p>
        </p:txBody>
      </p:sp>
      <p:sp>
        <p:nvSpPr>
          <p:cNvPr name="TextBox 7" id="7"/>
          <p:cNvSpPr txBox="true"/>
          <p:nvPr/>
        </p:nvSpPr>
        <p:spPr>
          <a:xfrm rot="0">
            <a:off x="13336637" y="10022840"/>
            <a:ext cx="4951363" cy="264160"/>
          </a:xfrm>
          <a:prstGeom prst="rect">
            <a:avLst/>
          </a:prstGeom>
        </p:spPr>
        <p:txBody>
          <a:bodyPr anchor="t" rtlCol="false" tIns="0" lIns="0" bIns="0" rIns="0">
            <a:spAutoFit/>
          </a:bodyPr>
          <a:lstStyle/>
          <a:p>
            <a:pPr algn="l">
              <a:lnSpc>
                <a:spcPts val="2239"/>
              </a:lnSpc>
              <a:spcBef>
                <a:spcPct val="0"/>
              </a:spcBef>
            </a:pPr>
            <a:r>
              <a:rPr lang="en-US" b="true" sz="1599" spc="-47">
                <a:solidFill>
                  <a:srgbClr val="FFFFFF"/>
                </a:solidFill>
                <a:latin typeface="Montserrat Semi-Bold"/>
                <a:ea typeface="Montserrat Semi-Bold"/>
                <a:cs typeface="Montserrat Semi-Bold"/>
                <a:sym typeface="Montserrat Semi-Bold"/>
              </a:rPr>
              <a:t>Data Science Capstone Portfolio | June 2026</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false" rot="0">
            <a:off x="0" y="0"/>
            <a:ext cx="18288000" cy="10287000"/>
          </a:xfrm>
          <a:custGeom>
            <a:avLst/>
            <a:gdLst/>
            <a:ahLst/>
            <a:cxnLst/>
            <a:rect r="r" b="b" t="t" l="l"/>
            <a:pathLst>
              <a:path h="10287000" w="18288000">
                <a:moveTo>
                  <a:pt x="18288000" y="0"/>
                </a:moveTo>
                <a:lnTo>
                  <a:pt x="0" y="0"/>
                </a:lnTo>
                <a:lnTo>
                  <a:pt x="0" y="10287000"/>
                </a:lnTo>
                <a:lnTo>
                  <a:pt x="18288000" y="10287000"/>
                </a:lnTo>
                <a:lnTo>
                  <a:pt x="18288000" y="0"/>
                </a:lnTo>
                <a:close/>
              </a:path>
            </a:pathLst>
          </a:custGeom>
          <a:blipFill>
            <a:blip r:embed="rId2"/>
            <a:stretch>
              <a:fillRect l="0" t="-9222" r="0" b="-9222"/>
            </a:stretch>
          </a:blipFill>
        </p:spPr>
      </p:sp>
      <p:sp>
        <p:nvSpPr>
          <p:cNvPr name="Freeform 3" id="3"/>
          <p:cNvSpPr/>
          <p:nvPr/>
        </p:nvSpPr>
        <p:spPr>
          <a:xfrm flipH="false" flipV="false" rot="0">
            <a:off x="16655004" y="1203397"/>
            <a:ext cx="604296" cy="349393"/>
          </a:xfrm>
          <a:custGeom>
            <a:avLst/>
            <a:gdLst/>
            <a:ahLst/>
            <a:cxnLst/>
            <a:rect r="r" b="b" t="t" l="l"/>
            <a:pathLst>
              <a:path h="349393" w="604296">
                <a:moveTo>
                  <a:pt x="0" y="0"/>
                </a:moveTo>
                <a:lnTo>
                  <a:pt x="604296" y="0"/>
                </a:lnTo>
                <a:lnTo>
                  <a:pt x="604296" y="349393"/>
                </a:lnTo>
                <a:lnTo>
                  <a:pt x="0" y="34939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187358" y="2448354"/>
            <a:ext cx="5289091" cy="4365905"/>
          </a:xfrm>
          <a:custGeom>
            <a:avLst/>
            <a:gdLst/>
            <a:ahLst/>
            <a:cxnLst/>
            <a:rect r="r" b="b" t="t" l="l"/>
            <a:pathLst>
              <a:path h="4365905" w="5289091">
                <a:moveTo>
                  <a:pt x="0" y="0"/>
                </a:moveTo>
                <a:lnTo>
                  <a:pt x="5289091" y="0"/>
                </a:lnTo>
                <a:lnTo>
                  <a:pt x="5289091" y="4365904"/>
                </a:lnTo>
                <a:lnTo>
                  <a:pt x="0" y="4365904"/>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5" id="5"/>
          <p:cNvSpPr/>
          <p:nvPr/>
        </p:nvSpPr>
        <p:spPr>
          <a:xfrm flipH="false" flipV="false" rot="0">
            <a:off x="4033139" y="5434682"/>
            <a:ext cx="4239900" cy="3823618"/>
          </a:xfrm>
          <a:custGeom>
            <a:avLst/>
            <a:gdLst/>
            <a:ahLst/>
            <a:cxnLst/>
            <a:rect r="r" b="b" t="t" l="l"/>
            <a:pathLst>
              <a:path h="3823618" w="4239900">
                <a:moveTo>
                  <a:pt x="0" y="0"/>
                </a:moveTo>
                <a:lnTo>
                  <a:pt x="4239900" y="0"/>
                </a:lnTo>
                <a:lnTo>
                  <a:pt x="4239900" y="3823618"/>
                </a:lnTo>
                <a:lnTo>
                  <a:pt x="0" y="3823618"/>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6" id="6"/>
          <p:cNvSpPr txBox="true"/>
          <p:nvPr/>
        </p:nvSpPr>
        <p:spPr>
          <a:xfrm rot="0">
            <a:off x="1305456" y="818690"/>
            <a:ext cx="15677087" cy="896239"/>
          </a:xfrm>
          <a:prstGeom prst="rect">
            <a:avLst/>
          </a:prstGeom>
        </p:spPr>
        <p:txBody>
          <a:bodyPr anchor="t" rtlCol="false" tIns="0" lIns="0" bIns="0" rIns="0">
            <a:spAutoFit/>
          </a:bodyPr>
          <a:lstStyle/>
          <a:p>
            <a:pPr algn="l">
              <a:lnSpc>
                <a:spcPts val="6847"/>
              </a:lnSpc>
            </a:pPr>
            <a:r>
              <a:rPr lang="en-US" sz="6399" spc="-281" b="true">
                <a:solidFill>
                  <a:srgbClr val="FFFFFF"/>
                </a:solidFill>
                <a:latin typeface="Montserrat Bold"/>
                <a:ea typeface="Montserrat Bold"/>
                <a:cs typeface="Montserrat Bold"/>
                <a:sym typeface="Montserrat Bold"/>
              </a:rPr>
              <a:t>The Data Engineering</a:t>
            </a:r>
            <a:r>
              <a:rPr lang="en-US" b="true" sz="6399" spc="-281">
                <a:solidFill>
                  <a:srgbClr val="FFFFFF"/>
                </a:solidFill>
                <a:latin typeface="Montserrat Bold"/>
                <a:ea typeface="Montserrat Bold"/>
                <a:cs typeface="Montserrat Bold"/>
                <a:sym typeface="Montserrat Bold"/>
              </a:rPr>
              <a:t> Pipeline</a:t>
            </a:r>
          </a:p>
        </p:txBody>
      </p:sp>
      <p:sp>
        <p:nvSpPr>
          <p:cNvPr name="TextBox 7" id="7"/>
          <p:cNvSpPr txBox="true"/>
          <p:nvPr/>
        </p:nvSpPr>
        <p:spPr>
          <a:xfrm rot="0">
            <a:off x="8273039" y="3255344"/>
            <a:ext cx="8709505" cy="611956"/>
          </a:xfrm>
          <a:prstGeom prst="rect">
            <a:avLst/>
          </a:prstGeom>
        </p:spPr>
        <p:txBody>
          <a:bodyPr anchor="t" rtlCol="false" tIns="0" lIns="0" bIns="0" rIns="0">
            <a:spAutoFit/>
          </a:bodyPr>
          <a:lstStyle/>
          <a:p>
            <a:pPr algn="just">
              <a:lnSpc>
                <a:spcPts val="2495"/>
              </a:lnSpc>
              <a:spcBef>
                <a:spcPct val="0"/>
              </a:spcBef>
            </a:pPr>
            <a:r>
              <a:rPr lang="en-US" sz="1782">
                <a:solidFill>
                  <a:srgbClr val="FFFFFF"/>
                </a:solidFill>
                <a:latin typeface="Montserrat"/>
                <a:ea typeface="Montserrat"/>
                <a:cs typeface="Montserrat"/>
                <a:sym typeface="Montserrat"/>
              </a:rPr>
              <a:t>Raw</a:t>
            </a:r>
            <a:r>
              <a:rPr lang="en-US" sz="1782">
                <a:solidFill>
                  <a:srgbClr val="FFFFFF"/>
                </a:solidFill>
                <a:latin typeface="Montserrat"/>
                <a:ea typeface="Montserrat"/>
                <a:cs typeface="Montserrat"/>
                <a:sym typeface="Montserrat"/>
              </a:rPr>
              <a:t> CRM databases suffer from formatting decay, hidden trailing spaces, and redundant data rows that warp downstream calculations.</a:t>
            </a:r>
          </a:p>
        </p:txBody>
      </p:sp>
      <p:sp>
        <p:nvSpPr>
          <p:cNvPr name="TextBox 8" id="8"/>
          <p:cNvSpPr txBox="true"/>
          <p:nvPr/>
        </p:nvSpPr>
        <p:spPr>
          <a:xfrm rot="0">
            <a:off x="8273039" y="2739430"/>
            <a:ext cx="7462425" cy="396240"/>
          </a:xfrm>
          <a:prstGeom prst="rect">
            <a:avLst/>
          </a:prstGeom>
        </p:spPr>
        <p:txBody>
          <a:bodyPr anchor="t" rtlCol="false" tIns="0" lIns="0" bIns="0" rIns="0">
            <a:spAutoFit/>
          </a:bodyPr>
          <a:lstStyle/>
          <a:p>
            <a:pPr algn="just">
              <a:lnSpc>
                <a:spcPts val="3359"/>
              </a:lnSpc>
              <a:spcBef>
                <a:spcPct val="0"/>
              </a:spcBef>
            </a:pPr>
            <a:r>
              <a:rPr lang="en-US" b="true" sz="2400">
                <a:solidFill>
                  <a:srgbClr val="FFFFFF"/>
                </a:solidFill>
                <a:latin typeface="Montserrat Semi-Bold"/>
                <a:ea typeface="Montserrat Semi-Bold"/>
                <a:cs typeface="Montserrat Semi-Bold"/>
                <a:sym typeface="Montserrat Semi-Bold"/>
              </a:rPr>
              <a:t>The Problem: </a:t>
            </a:r>
          </a:p>
        </p:txBody>
      </p:sp>
      <p:sp>
        <p:nvSpPr>
          <p:cNvPr name="TextBox 9" id="9"/>
          <p:cNvSpPr txBox="true"/>
          <p:nvPr/>
        </p:nvSpPr>
        <p:spPr>
          <a:xfrm rot="0">
            <a:off x="8157020" y="4848585"/>
            <a:ext cx="8825524" cy="2497906"/>
          </a:xfrm>
          <a:prstGeom prst="rect">
            <a:avLst/>
          </a:prstGeom>
        </p:spPr>
        <p:txBody>
          <a:bodyPr anchor="t" rtlCol="false" tIns="0" lIns="0" bIns="0" rIns="0">
            <a:spAutoFit/>
          </a:bodyPr>
          <a:lstStyle/>
          <a:p>
            <a:pPr algn="just" marL="384787" indent="-192394" lvl="1">
              <a:lnSpc>
                <a:spcPts val="2495"/>
              </a:lnSpc>
              <a:spcBef>
                <a:spcPct val="0"/>
              </a:spcBef>
              <a:buFont typeface="Arial"/>
              <a:buChar char="•"/>
            </a:pPr>
            <a:r>
              <a:rPr lang="en-US" sz="1782">
                <a:solidFill>
                  <a:srgbClr val="FFFFFF"/>
                </a:solidFill>
                <a:latin typeface="Montserrat"/>
                <a:ea typeface="Montserrat"/>
                <a:cs typeface="Montserrat"/>
                <a:sym typeface="Montserrat"/>
              </a:rPr>
              <a:t>Header Scrubbing: St</a:t>
            </a:r>
            <a:r>
              <a:rPr lang="en-US" sz="1782">
                <a:solidFill>
                  <a:srgbClr val="FFFFFF"/>
                </a:solidFill>
                <a:latin typeface="Montserrat"/>
                <a:ea typeface="Montserrat"/>
                <a:cs typeface="Montserrat"/>
                <a:sym typeface="Montserrat"/>
              </a:rPr>
              <a:t>ripped accidental white spaces from all raw dataset columns (df.columns.str.strip()).</a:t>
            </a:r>
          </a:p>
          <a:p>
            <a:pPr algn="just" marL="384787" indent="-192394" lvl="1">
              <a:lnSpc>
                <a:spcPts val="2495"/>
              </a:lnSpc>
              <a:spcBef>
                <a:spcPct val="0"/>
              </a:spcBef>
              <a:buFont typeface="Arial"/>
              <a:buChar char="•"/>
            </a:pPr>
            <a:r>
              <a:rPr lang="en-US" sz="1782">
                <a:solidFill>
                  <a:srgbClr val="FFFFFF"/>
                </a:solidFill>
                <a:latin typeface="Montserrat"/>
                <a:ea typeface="Montserrat"/>
                <a:cs typeface="Montserrat"/>
                <a:sym typeface="Montserrat"/>
              </a:rPr>
              <a:t>Categorical Normalization: Vacuumed and cleaned text variables for Contract, PaymentMethod, and PaperlessBilling to eliminate fragmented groupings.</a:t>
            </a:r>
          </a:p>
          <a:p>
            <a:pPr algn="just" marL="384787" indent="-192394" lvl="1">
              <a:lnSpc>
                <a:spcPts val="2495"/>
              </a:lnSpc>
              <a:spcBef>
                <a:spcPct val="0"/>
              </a:spcBef>
              <a:buFont typeface="Arial"/>
              <a:buChar char="•"/>
            </a:pPr>
            <a:r>
              <a:rPr lang="en-US" sz="1782">
                <a:solidFill>
                  <a:srgbClr val="FFFFFF"/>
                </a:solidFill>
                <a:latin typeface="Montserrat"/>
                <a:ea typeface="Montserrat"/>
                <a:cs typeface="Montserrat"/>
                <a:sym typeface="Montserrat"/>
              </a:rPr>
              <a:t>Matrix Protection: Run row-wise verification to locate and drop duplicate rows via df.drop_duplicates().</a:t>
            </a:r>
          </a:p>
          <a:p>
            <a:pPr algn="just">
              <a:lnSpc>
                <a:spcPts val="2495"/>
              </a:lnSpc>
              <a:spcBef>
                <a:spcPct val="0"/>
              </a:spcBef>
            </a:pPr>
          </a:p>
        </p:txBody>
      </p:sp>
      <p:sp>
        <p:nvSpPr>
          <p:cNvPr name="TextBox 10" id="10"/>
          <p:cNvSpPr txBox="true"/>
          <p:nvPr/>
        </p:nvSpPr>
        <p:spPr>
          <a:xfrm rot="0">
            <a:off x="8273039" y="4305450"/>
            <a:ext cx="8158541" cy="396240"/>
          </a:xfrm>
          <a:prstGeom prst="rect">
            <a:avLst/>
          </a:prstGeom>
        </p:spPr>
        <p:txBody>
          <a:bodyPr anchor="t" rtlCol="false" tIns="0" lIns="0" bIns="0" rIns="0">
            <a:spAutoFit/>
          </a:bodyPr>
          <a:lstStyle/>
          <a:p>
            <a:pPr algn="just">
              <a:lnSpc>
                <a:spcPts val="3359"/>
              </a:lnSpc>
              <a:spcBef>
                <a:spcPct val="0"/>
              </a:spcBef>
            </a:pPr>
            <a:r>
              <a:rPr lang="en-US" b="true" sz="2400">
                <a:solidFill>
                  <a:srgbClr val="FFFFFF"/>
                </a:solidFill>
                <a:latin typeface="Montserrat Semi-Bold"/>
                <a:ea typeface="Montserrat Semi-Bold"/>
                <a:cs typeface="Montserrat Semi-Bold"/>
                <a:sym typeface="Montserrat Semi-Bold"/>
              </a:rPr>
              <a:t>Technical Ingestion Workflow (Mapped to Code):</a:t>
            </a:r>
          </a:p>
        </p:txBody>
      </p:sp>
      <p:sp>
        <p:nvSpPr>
          <p:cNvPr name="TextBox 11" id="11"/>
          <p:cNvSpPr txBox="true"/>
          <p:nvPr/>
        </p:nvSpPr>
        <p:spPr>
          <a:xfrm rot="0">
            <a:off x="8273039" y="7308391"/>
            <a:ext cx="7462425" cy="396240"/>
          </a:xfrm>
          <a:prstGeom prst="rect">
            <a:avLst/>
          </a:prstGeom>
        </p:spPr>
        <p:txBody>
          <a:bodyPr anchor="t" rtlCol="false" tIns="0" lIns="0" bIns="0" rIns="0">
            <a:spAutoFit/>
          </a:bodyPr>
          <a:lstStyle/>
          <a:p>
            <a:pPr algn="just">
              <a:lnSpc>
                <a:spcPts val="3359"/>
              </a:lnSpc>
              <a:spcBef>
                <a:spcPct val="0"/>
              </a:spcBef>
            </a:pPr>
            <a:r>
              <a:rPr lang="en-US" b="true" sz="2400">
                <a:solidFill>
                  <a:srgbClr val="FFFFFF"/>
                </a:solidFill>
                <a:latin typeface="Montserrat Semi-Bold"/>
                <a:ea typeface="Montserrat Semi-Bold"/>
                <a:cs typeface="Montserrat Semi-Bold"/>
                <a:sym typeface="Montserrat Semi-Bold"/>
              </a:rPr>
              <a:t>Pipeline Output: </a:t>
            </a:r>
          </a:p>
        </p:txBody>
      </p:sp>
      <p:sp>
        <p:nvSpPr>
          <p:cNvPr name="TextBox 12" id="12"/>
          <p:cNvSpPr txBox="true"/>
          <p:nvPr/>
        </p:nvSpPr>
        <p:spPr>
          <a:xfrm rot="0">
            <a:off x="8549795" y="7847506"/>
            <a:ext cx="8709505" cy="611956"/>
          </a:xfrm>
          <a:prstGeom prst="rect">
            <a:avLst/>
          </a:prstGeom>
        </p:spPr>
        <p:txBody>
          <a:bodyPr anchor="t" rtlCol="false" tIns="0" lIns="0" bIns="0" rIns="0">
            <a:spAutoFit/>
          </a:bodyPr>
          <a:lstStyle/>
          <a:p>
            <a:pPr algn="just">
              <a:lnSpc>
                <a:spcPts val="2495"/>
              </a:lnSpc>
              <a:spcBef>
                <a:spcPct val="0"/>
              </a:spcBef>
            </a:pPr>
            <a:r>
              <a:rPr lang="en-US" sz="1782">
                <a:solidFill>
                  <a:srgbClr val="FFFFFF"/>
                </a:solidFill>
                <a:latin typeface="Montserrat"/>
                <a:ea typeface="Montserrat"/>
                <a:cs typeface="Montserrat"/>
                <a:sym typeface="Montserrat"/>
              </a:rPr>
              <a:t>A clean,</a:t>
            </a:r>
            <a:r>
              <a:rPr lang="en-US" sz="1782">
                <a:solidFill>
                  <a:srgbClr val="FFFFFF"/>
                </a:solidFill>
                <a:latin typeface="Montserrat"/>
                <a:ea typeface="Montserrat"/>
                <a:cs typeface="Montserrat"/>
                <a:sym typeface="Montserrat"/>
              </a:rPr>
              <a:t> standardized matrix exported directly to data/cleaned_data.csv for downstream model safety.</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false" rot="0">
            <a:off x="0" y="0"/>
            <a:ext cx="18288000" cy="10287000"/>
          </a:xfrm>
          <a:custGeom>
            <a:avLst/>
            <a:gdLst/>
            <a:ahLst/>
            <a:cxnLst/>
            <a:rect r="r" b="b" t="t" l="l"/>
            <a:pathLst>
              <a:path h="10287000" w="18288000">
                <a:moveTo>
                  <a:pt x="18288000" y="0"/>
                </a:moveTo>
                <a:lnTo>
                  <a:pt x="0" y="0"/>
                </a:lnTo>
                <a:lnTo>
                  <a:pt x="0" y="10287000"/>
                </a:lnTo>
                <a:lnTo>
                  <a:pt x="18288000" y="10287000"/>
                </a:lnTo>
                <a:lnTo>
                  <a:pt x="18288000" y="0"/>
                </a:lnTo>
                <a:close/>
              </a:path>
            </a:pathLst>
          </a:custGeom>
          <a:blipFill>
            <a:blip r:embed="rId2"/>
            <a:stretch>
              <a:fillRect l="0" t="-9222" r="0" b="-9222"/>
            </a:stretch>
          </a:blipFill>
        </p:spPr>
      </p:sp>
      <p:sp>
        <p:nvSpPr>
          <p:cNvPr name="Freeform 3" id="3"/>
          <p:cNvSpPr/>
          <p:nvPr/>
        </p:nvSpPr>
        <p:spPr>
          <a:xfrm flipH="false" flipV="false" rot="0">
            <a:off x="16655004" y="1203397"/>
            <a:ext cx="604296" cy="349393"/>
          </a:xfrm>
          <a:custGeom>
            <a:avLst/>
            <a:gdLst/>
            <a:ahLst/>
            <a:cxnLst/>
            <a:rect r="r" b="b" t="t" l="l"/>
            <a:pathLst>
              <a:path h="349393" w="604296">
                <a:moveTo>
                  <a:pt x="0" y="0"/>
                </a:moveTo>
                <a:lnTo>
                  <a:pt x="604296" y="0"/>
                </a:lnTo>
                <a:lnTo>
                  <a:pt x="604296" y="349393"/>
                </a:lnTo>
                <a:lnTo>
                  <a:pt x="0" y="34939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9717546" y="2003453"/>
            <a:ext cx="5151250" cy="3493484"/>
          </a:xfrm>
          <a:custGeom>
            <a:avLst/>
            <a:gdLst/>
            <a:ahLst/>
            <a:cxnLst/>
            <a:rect r="r" b="b" t="t" l="l"/>
            <a:pathLst>
              <a:path h="3493484" w="5151250">
                <a:moveTo>
                  <a:pt x="0" y="0"/>
                </a:moveTo>
                <a:lnTo>
                  <a:pt x="5151250" y="0"/>
                </a:lnTo>
                <a:lnTo>
                  <a:pt x="5151250" y="3493484"/>
                </a:lnTo>
                <a:lnTo>
                  <a:pt x="0" y="3493484"/>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5" id="5"/>
          <p:cNvSpPr/>
          <p:nvPr/>
        </p:nvSpPr>
        <p:spPr>
          <a:xfrm flipH="false" flipV="false" rot="0">
            <a:off x="15204829" y="4103632"/>
            <a:ext cx="2054471" cy="1393305"/>
          </a:xfrm>
          <a:custGeom>
            <a:avLst/>
            <a:gdLst/>
            <a:ahLst/>
            <a:cxnLst/>
            <a:rect r="r" b="b" t="t" l="l"/>
            <a:pathLst>
              <a:path h="1393305" w="2054471">
                <a:moveTo>
                  <a:pt x="0" y="0"/>
                </a:moveTo>
                <a:lnTo>
                  <a:pt x="2054471" y="0"/>
                </a:lnTo>
                <a:lnTo>
                  <a:pt x="2054471" y="1393305"/>
                </a:lnTo>
                <a:lnTo>
                  <a:pt x="0" y="1393305"/>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false" flipV="false" rot="0">
            <a:off x="2126818" y="7904307"/>
            <a:ext cx="11301259" cy="2122213"/>
          </a:xfrm>
          <a:custGeom>
            <a:avLst/>
            <a:gdLst/>
            <a:ahLst/>
            <a:cxnLst/>
            <a:rect r="r" b="b" t="t" l="l"/>
            <a:pathLst>
              <a:path h="2122213" w="11301259">
                <a:moveTo>
                  <a:pt x="0" y="0"/>
                </a:moveTo>
                <a:lnTo>
                  <a:pt x="11301259" y="0"/>
                </a:lnTo>
                <a:lnTo>
                  <a:pt x="11301259" y="2122214"/>
                </a:lnTo>
                <a:lnTo>
                  <a:pt x="0" y="2122214"/>
                </a:lnTo>
                <a:lnTo>
                  <a:pt x="0" y="0"/>
                </a:lnTo>
                <a:close/>
              </a:path>
            </a:pathLst>
          </a:custGeom>
          <a:blipFill>
            <a:blip r:embed="rId7"/>
            <a:stretch>
              <a:fillRect l="0" t="-23178" r="0" b="-7289"/>
            </a:stretch>
          </a:blipFill>
        </p:spPr>
      </p:sp>
      <p:sp>
        <p:nvSpPr>
          <p:cNvPr name="TextBox 7" id="7"/>
          <p:cNvSpPr txBox="true"/>
          <p:nvPr/>
        </p:nvSpPr>
        <p:spPr>
          <a:xfrm rot="0">
            <a:off x="699979" y="463058"/>
            <a:ext cx="15384953" cy="1915795"/>
          </a:xfrm>
          <a:prstGeom prst="rect">
            <a:avLst/>
          </a:prstGeom>
        </p:spPr>
        <p:txBody>
          <a:bodyPr anchor="t" rtlCol="false" tIns="0" lIns="0" bIns="0" rIns="0">
            <a:spAutoFit/>
          </a:bodyPr>
          <a:lstStyle/>
          <a:p>
            <a:pPr algn="l">
              <a:lnSpc>
                <a:spcPts val="7490"/>
              </a:lnSpc>
            </a:pPr>
            <a:r>
              <a:rPr lang="en-US" sz="7000" spc="-308" b="true">
                <a:solidFill>
                  <a:srgbClr val="FFFFFF"/>
                </a:solidFill>
                <a:latin typeface="Montserrat Bold"/>
                <a:ea typeface="Montserrat Bold"/>
                <a:cs typeface="Montserrat Bold"/>
                <a:sym typeface="Montserrat Bold"/>
              </a:rPr>
              <a:t>Data Insight 1 – </a:t>
            </a:r>
          </a:p>
          <a:p>
            <a:pPr algn="l">
              <a:lnSpc>
                <a:spcPts val="7490"/>
              </a:lnSpc>
            </a:pPr>
            <a:r>
              <a:rPr lang="en-US" sz="7000" spc="-308" b="true">
                <a:solidFill>
                  <a:srgbClr val="FFFFFF"/>
                </a:solidFill>
                <a:latin typeface="Montserrat Bold"/>
                <a:ea typeface="Montserrat Bold"/>
                <a:cs typeface="Montserrat Bold"/>
                <a:sym typeface="Montserrat Bold"/>
              </a:rPr>
              <a:t>Contract</a:t>
            </a:r>
            <a:r>
              <a:rPr lang="en-US" b="true" sz="7000" spc="-308">
                <a:solidFill>
                  <a:srgbClr val="FFFFFF"/>
                </a:solidFill>
                <a:latin typeface="Montserrat Bold"/>
                <a:ea typeface="Montserrat Bold"/>
                <a:cs typeface="Montserrat Bold"/>
                <a:sym typeface="Montserrat Bold"/>
              </a:rPr>
              <a:t> Vulnerability</a:t>
            </a:r>
          </a:p>
        </p:txBody>
      </p:sp>
      <p:grpSp>
        <p:nvGrpSpPr>
          <p:cNvPr name="Group 8" id="8"/>
          <p:cNvGrpSpPr/>
          <p:nvPr/>
        </p:nvGrpSpPr>
        <p:grpSpPr>
          <a:xfrm rot="0">
            <a:off x="699979" y="2630343"/>
            <a:ext cx="8213970" cy="5026315"/>
            <a:chOff x="0" y="0"/>
            <a:chExt cx="10951960" cy="6701753"/>
          </a:xfrm>
        </p:grpSpPr>
        <p:sp>
          <p:nvSpPr>
            <p:cNvPr name="TextBox 9" id="9"/>
            <p:cNvSpPr txBox="true"/>
            <p:nvPr/>
          </p:nvSpPr>
          <p:spPr>
            <a:xfrm rot="0">
              <a:off x="0" y="870015"/>
              <a:ext cx="10951960" cy="1225516"/>
            </a:xfrm>
            <a:prstGeom prst="rect">
              <a:avLst/>
            </a:prstGeom>
          </p:spPr>
          <p:txBody>
            <a:bodyPr anchor="t" rtlCol="false" tIns="0" lIns="0" bIns="0" rIns="0">
              <a:spAutoFit/>
            </a:bodyPr>
            <a:lstStyle/>
            <a:p>
              <a:pPr algn="just">
                <a:lnSpc>
                  <a:spcPts val="2495"/>
                </a:lnSpc>
                <a:spcBef>
                  <a:spcPct val="0"/>
                </a:spcBef>
              </a:pPr>
              <a:r>
                <a:rPr lang="en-US" sz="1782">
                  <a:solidFill>
                    <a:srgbClr val="FFFFFF"/>
                  </a:solidFill>
                  <a:latin typeface="Montserrat"/>
                  <a:ea typeface="Montserrat"/>
                  <a:cs typeface="Montserrat"/>
                  <a:sym typeface="Montserrat"/>
                </a:rPr>
                <a:t>Calc</a:t>
              </a:r>
              <a:r>
                <a:rPr lang="en-US" sz="1782">
                  <a:solidFill>
                    <a:srgbClr val="FFFFFF"/>
                  </a:solidFill>
                  <a:latin typeface="Montserrat"/>
                  <a:ea typeface="Montserrat"/>
                  <a:cs typeface="Montserrat"/>
                  <a:sym typeface="Montserrat"/>
                </a:rPr>
                <a:t>ulating the exact proportions of churn per plan tier reveals a massive concentration of customer dropouts inside flexible Month-to-month frameworks.</a:t>
              </a:r>
            </a:p>
          </p:txBody>
        </p:sp>
        <p:sp>
          <p:nvSpPr>
            <p:cNvPr name="TextBox 10" id="10"/>
            <p:cNvSpPr txBox="true"/>
            <p:nvPr/>
          </p:nvSpPr>
          <p:spPr>
            <a:xfrm rot="0">
              <a:off x="0" y="-38100"/>
              <a:ext cx="9949901" cy="515620"/>
            </a:xfrm>
            <a:prstGeom prst="rect">
              <a:avLst/>
            </a:prstGeom>
          </p:spPr>
          <p:txBody>
            <a:bodyPr anchor="t" rtlCol="false" tIns="0" lIns="0" bIns="0" rIns="0">
              <a:spAutoFit/>
            </a:bodyPr>
            <a:lstStyle/>
            <a:p>
              <a:pPr algn="just">
                <a:lnSpc>
                  <a:spcPts val="3359"/>
                </a:lnSpc>
                <a:spcBef>
                  <a:spcPct val="0"/>
                </a:spcBef>
              </a:pPr>
              <a:r>
                <a:rPr lang="en-US" b="true" sz="2400">
                  <a:solidFill>
                    <a:srgbClr val="FFFFFF"/>
                  </a:solidFill>
                  <a:latin typeface="Montserrat Semi-Bold"/>
                  <a:ea typeface="Montserrat Semi-Bold"/>
                  <a:cs typeface="Montserrat Semi-Bold"/>
                  <a:sym typeface="Montserrat Semi-Bold"/>
                </a:rPr>
                <a:t>Month-to-Month Risk:</a:t>
              </a:r>
            </a:p>
          </p:txBody>
        </p:sp>
        <p:sp>
          <p:nvSpPr>
            <p:cNvPr name="TextBox 11" id="11"/>
            <p:cNvSpPr txBox="true"/>
            <p:nvPr/>
          </p:nvSpPr>
          <p:spPr>
            <a:xfrm rot="0">
              <a:off x="0" y="3382676"/>
              <a:ext cx="10951960" cy="806416"/>
            </a:xfrm>
            <a:prstGeom prst="rect">
              <a:avLst/>
            </a:prstGeom>
          </p:spPr>
          <p:txBody>
            <a:bodyPr anchor="t" rtlCol="false" tIns="0" lIns="0" bIns="0" rIns="0">
              <a:spAutoFit/>
            </a:bodyPr>
            <a:lstStyle/>
            <a:p>
              <a:pPr algn="just">
                <a:lnSpc>
                  <a:spcPts val="2495"/>
                </a:lnSpc>
                <a:spcBef>
                  <a:spcPct val="0"/>
                </a:spcBef>
              </a:pPr>
              <a:r>
                <a:rPr lang="en-US" sz="1782">
                  <a:solidFill>
                    <a:srgbClr val="FFFFFF"/>
                  </a:solidFill>
                  <a:latin typeface="Montserrat"/>
                  <a:ea typeface="Montserrat"/>
                  <a:cs typeface="Montserrat"/>
                  <a:sym typeface="Montserrat"/>
                </a:rPr>
                <a:t>Ch</a:t>
              </a:r>
              <a:r>
                <a:rPr lang="en-US" sz="1782">
                  <a:solidFill>
                    <a:srgbClr val="FFFFFF"/>
                  </a:solidFill>
                  <a:latin typeface="Montserrat"/>
                  <a:ea typeface="Montserrat"/>
                  <a:cs typeface="Montserrat"/>
                  <a:sym typeface="Montserrat"/>
                </a:rPr>
                <a:t>urn rates drop significantly for One-year plans and plummet to near-zero for Two-year agreements.</a:t>
              </a:r>
            </a:p>
          </p:txBody>
        </p:sp>
        <p:sp>
          <p:nvSpPr>
            <p:cNvPr name="TextBox 12" id="12"/>
            <p:cNvSpPr txBox="true"/>
            <p:nvPr/>
          </p:nvSpPr>
          <p:spPr>
            <a:xfrm rot="0">
              <a:off x="0" y="2476531"/>
              <a:ext cx="9949901" cy="515620"/>
            </a:xfrm>
            <a:prstGeom prst="rect">
              <a:avLst/>
            </a:prstGeom>
          </p:spPr>
          <p:txBody>
            <a:bodyPr anchor="t" rtlCol="false" tIns="0" lIns="0" bIns="0" rIns="0">
              <a:spAutoFit/>
            </a:bodyPr>
            <a:lstStyle/>
            <a:p>
              <a:pPr algn="just">
                <a:lnSpc>
                  <a:spcPts val="3359"/>
                </a:lnSpc>
                <a:spcBef>
                  <a:spcPct val="0"/>
                </a:spcBef>
              </a:pPr>
              <a:r>
                <a:rPr lang="en-US" b="true" sz="2400">
                  <a:solidFill>
                    <a:srgbClr val="FFFFFF"/>
                  </a:solidFill>
                  <a:latin typeface="Montserrat Semi-Bold"/>
                  <a:ea typeface="Montserrat Semi-Bold"/>
                  <a:cs typeface="Montserrat Semi-Bold"/>
                  <a:sym typeface="Montserrat Semi-Bold"/>
                </a:rPr>
                <a:t>Long-Term Insulation:</a:t>
              </a:r>
            </a:p>
          </p:txBody>
        </p:sp>
        <p:sp>
          <p:nvSpPr>
            <p:cNvPr name="TextBox 13" id="13"/>
            <p:cNvSpPr txBox="true"/>
            <p:nvPr/>
          </p:nvSpPr>
          <p:spPr>
            <a:xfrm rot="0">
              <a:off x="0" y="4570092"/>
              <a:ext cx="9949901" cy="515620"/>
            </a:xfrm>
            <a:prstGeom prst="rect">
              <a:avLst/>
            </a:prstGeom>
          </p:spPr>
          <p:txBody>
            <a:bodyPr anchor="t" rtlCol="false" tIns="0" lIns="0" bIns="0" rIns="0">
              <a:spAutoFit/>
            </a:bodyPr>
            <a:lstStyle/>
            <a:p>
              <a:pPr algn="just">
                <a:lnSpc>
                  <a:spcPts val="3359"/>
                </a:lnSpc>
                <a:spcBef>
                  <a:spcPct val="0"/>
                </a:spcBef>
              </a:pPr>
              <a:r>
                <a:rPr lang="en-US" b="true" sz="2400">
                  <a:solidFill>
                    <a:srgbClr val="FFFFFF"/>
                  </a:solidFill>
                  <a:latin typeface="Montserrat Semi-Bold"/>
                  <a:ea typeface="Montserrat Semi-Bold"/>
                  <a:cs typeface="Montserrat Semi-Bold"/>
                  <a:sym typeface="Montserrat Semi-Bold"/>
                </a:rPr>
                <a:t>The Business Truth:</a:t>
              </a:r>
            </a:p>
          </p:txBody>
        </p:sp>
        <p:sp>
          <p:nvSpPr>
            <p:cNvPr name="TextBox 14" id="14"/>
            <p:cNvSpPr txBox="true"/>
            <p:nvPr/>
          </p:nvSpPr>
          <p:spPr>
            <a:xfrm rot="0">
              <a:off x="0" y="5476237"/>
              <a:ext cx="10951960" cy="1225516"/>
            </a:xfrm>
            <a:prstGeom prst="rect">
              <a:avLst/>
            </a:prstGeom>
          </p:spPr>
          <p:txBody>
            <a:bodyPr anchor="t" rtlCol="false" tIns="0" lIns="0" bIns="0" rIns="0">
              <a:spAutoFit/>
            </a:bodyPr>
            <a:lstStyle/>
            <a:p>
              <a:pPr algn="just">
                <a:lnSpc>
                  <a:spcPts val="2495"/>
                </a:lnSpc>
                <a:spcBef>
                  <a:spcPct val="0"/>
                </a:spcBef>
              </a:pPr>
              <a:r>
                <a:rPr lang="en-US" sz="1782">
                  <a:solidFill>
                    <a:srgbClr val="FFFFFF"/>
                  </a:solidFill>
                  <a:latin typeface="Montserrat"/>
                  <a:ea typeface="Montserrat"/>
                  <a:cs typeface="Montserrat"/>
                  <a:sym typeface="Montserrat"/>
                </a:rPr>
                <a:t>While flexible</a:t>
              </a:r>
              <a:r>
                <a:rPr lang="en-US" sz="1782">
                  <a:solidFill>
                    <a:srgbClr val="FFFFFF"/>
                  </a:solidFill>
                  <a:latin typeface="Montserrat"/>
                  <a:ea typeface="Montserrat"/>
                  <a:cs typeface="Montserrat"/>
                  <a:sym typeface="Montserrat"/>
                </a:rPr>
                <a:t> terms reduce friction during initial customer onboarding, they remove all exit friction when a user encounters a competitive market offer.</a:t>
              </a:r>
            </a:p>
          </p:txBody>
        </p:sp>
      </p:gr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false" rot="0">
            <a:off x="0" y="0"/>
            <a:ext cx="18288000" cy="10287000"/>
          </a:xfrm>
          <a:custGeom>
            <a:avLst/>
            <a:gdLst/>
            <a:ahLst/>
            <a:cxnLst/>
            <a:rect r="r" b="b" t="t" l="l"/>
            <a:pathLst>
              <a:path h="10287000" w="18288000">
                <a:moveTo>
                  <a:pt x="18288000" y="0"/>
                </a:moveTo>
                <a:lnTo>
                  <a:pt x="0" y="0"/>
                </a:lnTo>
                <a:lnTo>
                  <a:pt x="0" y="10287000"/>
                </a:lnTo>
                <a:lnTo>
                  <a:pt x="18288000" y="10287000"/>
                </a:lnTo>
                <a:lnTo>
                  <a:pt x="18288000" y="0"/>
                </a:lnTo>
                <a:close/>
              </a:path>
            </a:pathLst>
          </a:custGeom>
          <a:blipFill>
            <a:blip r:embed="rId2"/>
            <a:stretch>
              <a:fillRect l="0" t="-9222" r="0" b="-9222"/>
            </a:stretch>
          </a:blipFill>
        </p:spPr>
      </p:sp>
      <p:sp>
        <p:nvSpPr>
          <p:cNvPr name="Freeform 3" id="3"/>
          <p:cNvSpPr/>
          <p:nvPr/>
        </p:nvSpPr>
        <p:spPr>
          <a:xfrm flipH="false" flipV="false" rot="0">
            <a:off x="16655004" y="1203397"/>
            <a:ext cx="604296" cy="349393"/>
          </a:xfrm>
          <a:custGeom>
            <a:avLst/>
            <a:gdLst/>
            <a:ahLst/>
            <a:cxnLst/>
            <a:rect r="r" b="b" t="t" l="l"/>
            <a:pathLst>
              <a:path h="349393" w="604296">
                <a:moveTo>
                  <a:pt x="0" y="0"/>
                </a:moveTo>
                <a:lnTo>
                  <a:pt x="604296" y="0"/>
                </a:lnTo>
                <a:lnTo>
                  <a:pt x="604296" y="349393"/>
                </a:lnTo>
                <a:lnTo>
                  <a:pt x="0" y="34939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187358" y="2495760"/>
            <a:ext cx="2881849" cy="3001926"/>
          </a:xfrm>
          <a:custGeom>
            <a:avLst/>
            <a:gdLst/>
            <a:ahLst/>
            <a:cxnLst/>
            <a:rect r="r" b="b" t="t" l="l"/>
            <a:pathLst>
              <a:path h="3001926" w="2881849">
                <a:moveTo>
                  <a:pt x="0" y="0"/>
                </a:moveTo>
                <a:lnTo>
                  <a:pt x="2881849" y="0"/>
                </a:lnTo>
                <a:lnTo>
                  <a:pt x="2881849" y="3001926"/>
                </a:lnTo>
                <a:lnTo>
                  <a:pt x="0" y="300192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5" id="5"/>
          <p:cNvSpPr/>
          <p:nvPr/>
        </p:nvSpPr>
        <p:spPr>
          <a:xfrm flipH="false" flipV="false" rot="0">
            <a:off x="4562619" y="2965737"/>
            <a:ext cx="3172146" cy="2531949"/>
          </a:xfrm>
          <a:custGeom>
            <a:avLst/>
            <a:gdLst/>
            <a:ahLst/>
            <a:cxnLst/>
            <a:rect r="r" b="b" t="t" l="l"/>
            <a:pathLst>
              <a:path h="2531949" w="3172146">
                <a:moveTo>
                  <a:pt x="0" y="0"/>
                </a:moveTo>
                <a:lnTo>
                  <a:pt x="3172146" y="0"/>
                </a:lnTo>
                <a:lnTo>
                  <a:pt x="3172146" y="2531949"/>
                </a:lnTo>
                <a:lnTo>
                  <a:pt x="0" y="2531949"/>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6" id="6"/>
          <p:cNvSpPr txBox="true"/>
          <p:nvPr/>
        </p:nvSpPr>
        <p:spPr>
          <a:xfrm rot="0">
            <a:off x="1028700" y="519513"/>
            <a:ext cx="14202831" cy="1976247"/>
          </a:xfrm>
          <a:prstGeom prst="rect">
            <a:avLst/>
          </a:prstGeom>
        </p:spPr>
        <p:txBody>
          <a:bodyPr anchor="t" rtlCol="false" tIns="0" lIns="0" bIns="0" rIns="0">
            <a:spAutoFit/>
          </a:bodyPr>
          <a:lstStyle/>
          <a:p>
            <a:pPr algn="l">
              <a:lnSpc>
                <a:spcPts val="7704"/>
              </a:lnSpc>
            </a:pPr>
            <a:r>
              <a:rPr lang="en-US" sz="7200" spc="-316" b="true">
                <a:solidFill>
                  <a:srgbClr val="FFFFFF"/>
                </a:solidFill>
                <a:latin typeface="Montserrat Bold"/>
                <a:ea typeface="Montserrat Bold"/>
                <a:cs typeface="Montserrat Bold"/>
                <a:sym typeface="Montserrat Bold"/>
              </a:rPr>
              <a:t>Data</a:t>
            </a:r>
            <a:r>
              <a:rPr lang="en-US" b="true" sz="7200" spc="-316">
                <a:solidFill>
                  <a:srgbClr val="FFFFFF"/>
                </a:solidFill>
                <a:latin typeface="Montserrat Bold"/>
                <a:ea typeface="Montserrat Bold"/>
                <a:cs typeface="Montserrat Bold"/>
                <a:sym typeface="Montserrat Bold"/>
              </a:rPr>
              <a:t> Insight 2 – </a:t>
            </a:r>
          </a:p>
          <a:p>
            <a:pPr algn="l">
              <a:lnSpc>
                <a:spcPts val="7704"/>
              </a:lnSpc>
            </a:pPr>
            <a:r>
              <a:rPr lang="en-US" b="true" sz="7200" spc="-316">
                <a:solidFill>
                  <a:srgbClr val="FFFFFF"/>
                </a:solidFill>
                <a:latin typeface="Montserrat Bold"/>
                <a:ea typeface="Montserrat Bold"/>
                <a:cs typeface="Montserrat Bold"/>
                <a:sym typeface="Montserrat Bold"/>
              </a:rPr>
              <a:t>The Onboarding Risk Cliff</a:t>
            </a:r>
          </a:p>
        </p:txBody>
      </p:sp>
      <p:sp>
        <p:nvSpPr>
          <p:cNvPr name="TextBox 7" id="7"/>
          <p:cNvSpPr txBox="true"/>
          <p:nvPr/>
        </p:nvSpPr>
        <p:spPr>
          <a:xfrm rot="0">
            <a:off x="1028700" y="7074719"/>
            <a:ext cx="4875956" cy="1240606"/>
          </a:xfrm>
          <a:prstGeom prst="rect">
            <a:avLst/>
          </a:prstGeom>
        </p:spPr>
        <p:txBody>
          <a:bodyPr anchor="t" rtlCol="false" tIns="0" lIns="0" bIns="0" rIns="0">
            <a:spAutoFit/>
          </a:bodyPr>
          <a:lstStyle/>
          <a:p>
            <a:pPr algn="just">
              <a:lnSpc>
                <a:spcPts val="2495"/>
              </a:lnSpc>
              <a:spcBef>
                <a:spcPct val="0"/>
              </a:spcBef>
            </a:pPr>
            <a:r>
              <a:rPr lang="en-US" sz="1782">
                <a:solidFill>
                  <a:srgbClr val="FFFFFF"/>
                </a:solidFill>
                <a:latin typeface="Montserrat"/>
                <a:ea typeface="Montserrat"/>
                <a:cs typeface="Montserrat"/>
                <a:sym typeface="Montserrat"/>
              </a:rPr>
              <a:t>Mapping the continuous distribution of account lifespans (Tenure) across the binary churn axis reveals a stark structural split.</a:t>
            </a:r>
          </a:p>
        </p:txBody>
      </p:sp>
      <p:sp>
        <p:nvSpPr>
          <p:cNvPr name="TextBox 8" id="8"/>
          <p:cNvSpPr txBox="true"/>
          <p:nvPr/>
        </p:nvSpPr>
        <p:spPr>
          <a:xfrm rot="0">
            <a:off x="1028700" y="6560613"/>
            <a:ext cx="4875956" cy="396240"/>
          </a:xfrm>
          <a:prstGeom prst="rect">
            <a:avLst/>
          </a:prstGeom>
        </p:spPr>
        <p:txBody>
          <a:bodyPr anchor="t" rtlCol="false" tIns="0" lIns="0" bIns="0" rIns="0">
            <a:spAutoFit/>
          </a:bodyPr>
          <a:lstStyle/>
          <a:p>
            <a:pPr algn="just">
              <a:lnSpc>
                <a:spcPts val="3359"/>
              </a:lnSpc>
              <a:spcBef>
                <a:spcPct val="0"/>
              </a:spcBef>
            </a:pPr>
            <a:r>
              <a:rPr lang="en-US" b="true" sz="2400">
                <a:solidFill>
                  <a:srgbClr val="FFFFFF"/>
                </a:solidFill>
                <a:latin typeface="Montserrat Semi-Bold"/>
                <a:ea typeface="Montserrat Semi-Bold"/>
                <a:cs typeface="Montserrat Semi-Bold"/>
                <a:sym typeface="Montserrat Semi-Bold"/>
              </a:rPr>
              <a:t>Timeline Divergence</a:t>
            </a:r>
          </a:p>
        </p:txBody>
      </p:sp>
      <p:sp>
        <p:nvSpPr>
          <p:cNvPr name="TextBox 9" id="9"/>
          <p:cNvSpPr txBox="true"/>
          <p:nvPr/>
        </p:nvSpPr>
        <p:spPr>
          <a:xfrm rot="0">
            <a:off x="6706022" y="7074719"/>
            <a:ext cx="4875956" cy="1554931"/>
          </a:xfrm>
          <a:prstGeom prst="rect">
            <a:avLst/>
          </a:prstGeom>
        </p:spPr>
        <p:txBody>
          <a:bodyPr anchor="t" rtlCol="false" tIns="0" lIns="0" bIns="0" rIns="0">
            <a:spAutoFit/>
          </a:bodyPr>
          <a:lstStyle/>
          <a:p>
            <a:pPr algn="just">
              <a:lnSpc>
                <a:spcPts val="2495"/>
              </a:lnSpc>
              <a:spcBef>
                <a:spcPct val="0"/>
              </a:spcBef>
            </a:pPr>
            <a:r>
              <a:rPr lang="en-US" sz="1782">
                <a:solidFill>
                  <a:srgbClr val="FFFFFF"/>
                </a:solidFill>
                <a:latin typeface="Montserrat"/>
                <a:ea typeface="Montserrat"/>
                <a:cs typeface="Montserrat"/>
                <a:sym typeface="Montserrat"/>
              </a:rPr>
              <a:t>R</a:t>
            </a:r>
            <a:r>
              <a:rPr lang="en-US" sz="1782">
                <a:solidFill>
                  <a:srgbClr val="FFFFFF"/>
                </a:solidFill>
                <a:latin typeface="Montserrat"/>
                <a:ea typeface="Montserrat"/>
                <a:cs typeface="Montserrat"/>
                <a:sym typeface="Montserrat"/>
              </a:rPr>
              <a:t>etained customer profiles display a broad, highly mature lifespan range. Churned profiles, however, are heavily compressed below the 6-to-12-month timeline boundary.</a:t>
            </a:r>
          </a:p>
        </p:txBody>
      </p:sp>
      <p:sp>
        <p:nvSpPr>
          <p:cNvPr name="TextBox 10" id="10"/>
          <p:cNvSpPr txBox="true"/>
          <p:nvPr/>
        </p:nvSpPr>
        <p:spPr>
          <a:xfrm rot="0">
            <a:off x="6706022" y="6560613"/>
            <a:ext cx="4875956" cy="396240"/>
          </a:xfrm>
          <a:prstGeom prst="rect">
            <a:avLst/>
          </a:prstGeom>
        </p:spPr>
        <p:txBody>
          <a:bodyPr anchor="t" rtlCol="false" tIns="0" lIns="0" bIns="0" rIns="0">
            <a:spAutoFit/>
          </a:bodyPr>
          <a:lstStyle/>
          <a:p>
            <a:pPr algn="just">
              <a:lnSpc>
                <a:spcPts val="3359"/>
              </a:lnSpc>
              <a:spcBef>
                <a:spcPct val="0"/>
              </a:spcBef>
            </a:pPr>
            <a:r>
              <a:rPr lang="en-US" b="true" sz="2400">
                <a:solidFill>
                  <a:srgbClr val="FFFFFF"/>
                </a:solidFill>
                <a:latin typeface="Montserrat Semi-Bold"/>
                <a:ea typeface="Montserrat Semi-Bold"/>
                <a:cs typeface="Montserrat Semi-Bold"/>
                <a:sym typeface="Montserrat Semi-Bold"/>
              </a:rPr>
              <a:t>The Compression Window</a:t>
            </a:r>
          </a:p>
        </p:txBody>
      </p:sp>
      <p:sp>
        <p:nvSpPr>
          <p:cNvPr name="TextBox 11" id="11"/>
          <p:cNvSpPr txBox="true"/>
          <p:nvPr/>
        </p:nvSpPr>
        <p:spPr>
          <a:xfrm rot="0">
            <a:off x="12383344" y="7074719"/>
            <a:ext cx="4875956" cy="926281"/>
          </a:xfrm>
          <a:prstGeom prst="rect">
            <a:avLst/>
          </a:prstGeom>
        </p:spPr>
        <p:txBody>
          <a:bodyPr anchor="t" rtlCol="false" tIns="0" lIns="0" bIns="0" rIns="0">
            <a:spAutoFit/>
          </a:bodyPr>
          <a:lstStyle/>
          <a:p>
            <a:pPr algn="just">
              <a:lnSpc>
                <a:spcPts val="2495"/>
              </a:lnSpc>
              <a:spcBef>
                <a:spcPct val="0"/>
              </a:spcBef>
            </a:pPr>
            <a:r>
              <a:rPr lang="en-US" sz="1782">
                <a:solidFill>
                  <a:srgbClr val="FFFFFF"/>
                </a:solidFill>
                <a:latin typeface="Montserrat"/>
                <a:ea typeface="Montserrat"/>
                <a:cs typeface="Montserrat"/>
                <a:sym typeface="Montserrat"/>
              </a:rPr>
              <a:t>If a</a:t>
            </a:r>
            <a:r>
              <a:rPr lang="en-US" sz="1782">
                <a:solidFill>
                  <a:srgbClr val="FFFFFF"/>
                </a:solidFill>
                <a:latin typeface="Montserrat"/>
                <a:ea typeface="Montserrat"/>
                <a:cs typeface="Montserrat"/>
                <a:sym typeface="Montserrat"/>
              </a:rPr>
              <a:t> customer can be successfully guided past their first half-year milestone, their lifetime risk of leaving drops exponentially.</a:t>
            </a:r>
          </a:p>
        </p:txBody>
      </p:sp>
      <p:sp>
        <p:nvSpPr>
          <p:cNvPr name="TextBox 12" id="12"/>
          <p:cNvSpPr txBox="true"/>
          <p:nvPr/>
        </p:nvSpPr>
        <p:spPr>
          <a:xfrm rot="0">
            <a:off x="12383344" y="6560613"/>
            <a:ext cx="4875956" cy="815340"/>
          </a:xfrm>
          <a:prstGeom prst="rect">
            <a:avLst/>
          </a:prstGeom>
        </p:spPr>
        <p:txBody>
          <a:bodyPr anchor="t" rtlCol="false" tIns="0" lIns="0" bIns="0" rIns="0">
            <a:spAutoFit/>
          </a:bodyPr>
          <a:lstStyle/>
          <a:p>
            <a:pPr algn="just">
              <a:lnSpc>
                <a:spcPts val="3359"/>
              </a:lnSpc>
            </a:pPr>
            <a:r>
              <a:rPr lang="en-US" sz="2400" b="true">
                <a:solidFill>
                  <a:srgbClr val="FFFFFF"/>
                </a:solidFill>
                <a:latin typeface="Montserrat Semi-Bold"/>
                <a:ea typeface="Montserrat Semi-Bold"/>
                <a:cs typeface="Montserrat Semi-Bold"/>
                <a:sym typeface="Montserrat Semi-Bold"/>
              </a:rPr>
              <a:t>The Bu</a:t>
            </a:r>
            <a:r>
              <a:rPr lang="en-US" sz="2400" b="true">
                <a:solidFill>
                  <a:srgbClr val="FFFFFF"/>
                </a:solidFill>
                <a:latin typeface="Montserrat Semi-Bold"/>
                <a:ea typeface="Montserrat Semi-Bold"/>
                <a:cs typeface="Montserrat Semi-Bold"/>
                <a:sym typeface="Montserrat Semi-Bold"/>
              </a:rPr>
              <a:t>siness Truth</a:t>
            </a:r>
          </a:p>
          <a:p>
            <a:pPr algn="just">
              <a:lnSpc>
                <a:spcPts val="3359"/>
              </a:lnSpc>
              <a:spcBef>
                <a:spcPct val="0"/>
              </a:spcBef>
            </a:pP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false" rot="0">
            <a:off x="0" y="0"/>
            <a:ext cx="18288000" cy="10287000"/>
          </a:xfrm>
          <a:custGeom>
            <a:avLst/>
            <a:gdLst/>
            <a:ahLst/>
            <a:cxnLst/>
            <a:rect r="r" b="b" t="t" l="l"/>
            <a:pathLst>
              <a:path h="10287000" w="18288000">
                <a:moveTo>
                  <a:pt x="18288000" y="0"/>
                </a:moveTo>
                <a:lnTo>
                  <a:pt x="0" y="0"/>
                </a:lnTo>
                <a:lnTo>
                  <a:pt x="0" y="10287000"/>
                </a:lnTo>
                <a:lnTo>
                  <a:pt x="18288000" y="10287000"/>
                </a:lnTo>
                <a:lnTo>
                  <a:pt x="18288000" y="0"/>
                </a:lnTo>
                <a:close/>
              </a:path>
            </a:pathLst>
          </a:custGeom>
          <a:blipFill>
            <a:blip r:embed="rId2"/>
            <a:stretch>
              <a:fillRect l="0" t="-9222" r="0" b="-9222"/>
            </a:stretch>
          </a:blipFill>
        </p:spPr>
      </p:sp>
      <p:sp>
        <p:nvSpPr>
          <p:cNvPr name="Freeform 3" id="3"/>
          <p:cNvSpPr/>
          <p:nvPr/>
        </p:nvSpPr>
        <p:spPr>
          <a:xfrm flipH="false" flipV="false" rot="0">
            <a:off x="16655004" y="1203397"/>
            <a:ext cx="604296" cy="349393"/>
          </a:xfrm>
          <a:custGeom>
            <a:avLst/>
            <a:gdLst/>
            <a:ahLst/>
            <a:cxnLst/>
            <a:rect r="r" b="b" t="t" l="l"/>
            <a:pathLst>
              <a:path h="349393" w="604296">
                <a:moveTo>
                  <a:pt x="0" y="0"/>
                </a:moveTo>
                <a:lnTo>
                  <a:pt x="604296" y="0"/>
                </a:lnTo>
                <a:lnTo>
                  <a:pt x="604296" y="349393"/>
                </a:lnTo>
                <a:lnTo>
                  <a:pt x="0" y="34939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0518677" y="3037266"/>
            <a:ext cx="6740623" cy="4840993"/>
          </a:xfrm>
          <a:custGeom>
            <a:avLst/>
            <a:gdLst/>
            <a:ahLst/>
            <a:cxnLst/>
            <a:rect r="r" b="b" t="t" l="l"/>
            <a:pathLst>
              <a:path h="4840993" w="6740623">
                <a:moveTo>
                  <a:pt x="0" y="0"/>
                </a:moveTo>
                <a:lnTo>
                  <a:pt x="6740623" y="0"/>
                </a:lnTo>
                <a:lnTo>
                  <a:pt x="6740623" y="4840993"/>
                </a:lnTo>
                <a:lnTo>
                  <a:pt x="0" y="4840993"/>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5" id="5"/>
          <p:cNvSpPr txBox="true"/>
          <p:nvPr/>
        </p:nvSpPr>
        <p:spPr>
          <a:xfrm rot="0">
            <a:off x="723281" y="498440"/>
            <a:ext cx="13418433" cy="1976247"/>
          </a:xfrm>
          <a:prstGeom prst="rect">
            <a:avLst/>
          </a:prstGeom>
        </p:spPr>
        <p:txBody>
          <a:bodyPr anchor="t" rtlCol="false" tIns="0" lIns="0" bIns="0" rIns="0">
            <a:spAutoFit/>
          </a:bodyPr>
          <a:lstStyle/>
          <a:p>
            <a:pPr algn="l">
              <a:lnSpc>
                <a:spcPts val="7704"/>
              </a:lnSpc>
            </a:pPr>
            <a:r>
              <a:rPr lang="en-US" sz="7200" spc="-316" b="true">
                <a:solidFill>
                  <a:srgbClr val="FFFFFF"/>
                </a:solidFill>
                <a:latin typeface="Montserrat Bold"/>
                <a:ea typeface="Montserrat Bold"/>
                <a:cs typeface="Montserrat Bold"/>
                <a:sym typeface="Montserrat Bold"/>
              </a:rPr>
              <a:t>Data</a:t>
            </a:r>
            <a:r>
              <a:rPr lang="en-US" b="true" sz="7200" spc="-316">
                <a:solidFill>
                  <a:srgbClr val="FFFFFF"/>
                </a:solidFill>
                <a:latin typeface="Montserrat Bold"/>
                <a:ea typeface="Montserrat Bold"/>
                <a:cs typeface="Montserrat Bold"/>
                <a:sym typeface="Montserrat Bold"/>
              </a:rPr>
              <a:t> Insight 3 – </a:t>
            </a:r>
          </a:p>
          <a:p>
            <a:pPr algn="l">
              <a:lnSpc>
                <a:spcPts val="7704"/>
              </a:lnSpc>
            </a:pPr>
            <a:r>
              <a:rPr lang="en-US" b="true" sz="7200" spc="-316">
                <a:solidFill>
                  <a:srgbClr val="FFFFFF"/>
                </a:solidFill>
                <a:latin typeface="Montserrat Bold"/>
                <a:ea typeface="Montserrat Bold"/>
                <a:cs typeface="Montserrat Bold"/>
                <a:sym typeface="Montserrat Bold"/>
              </a:rPr>
              <a:t>Premium Pricing Resistance</a:t>
            </a:r>
          </a:p>
        </p:txBody>
      </p:sp>
      <p:sp>
        <p:nvSpPr>
          <p:cNvPr name="TextBox 6" id="6"/>
          <p:cNvSpPr txBox="true"/>
          <p:nvPr/>
        </p:nvSpPr>
        <p:spPr>
          <a:xfrm rot="0">
            <a:off x="723281" y="3571428"/>
            <a:ext cx="7516877" cy="611956"/>
          </a:xfrm>
          <a:prstGeom prst="rect">
            <a:avLst/>
          </a:prstGeom>
        </p:spPr>
        <p:txBody>
          <a:bodyPr anchor="t" rtlCol="false" tIns="0" lIns="0" bIns="0" rIns="0">
            <a:spAutoFit/>
          </a:bodyPr>
          <a:lstStyle/>
          <a:p>
            <a:pPr algn="just">
              <a:lnSpc>
                <a:spcPts val="2495"/>
              </a:lnSpc>
              <a:spcBef>
                <a:spcPct val="0"/>
              </a:spcBef>
            </a:pPr>
            <a:r>
              <a:rPr lang="en-US" sz="1782">
                <a:solidFill>
                  <a:srgbClr val="FFFFFF"/>
                </a:solidFill>
                <a:latin typeface="Montserrat"/>
                <a:ea typeface="Montserrat"/>
                <a:cs typeface="Montserrat"/>
                <a:sym typeface="Montserrat"/>
              </a:rPr>
              <a:t>A</a:t>
            </a:r>
            <a:r>
              <a:rPr lang="en-US" sz="1782">
                <a:solidFill>
                  <a:srgbClr val="FFFFFF"/>
                </a:solidFill>
                <a:latin typeface="Montserrat"/>
                <a:ea typeface="Montserrat"/>
                <a:cs typeface="Montserrat"/>
                <a:sym typeface="Montserrat"/>
              </a:rPr>
              <a:t> 15-bin stacked frequency histogram plots total account volume against continuous MonthlyCharges.</a:t>
            </a:r>
          </a:p>
        </p:txBody>
      </p:sp>
      <p:sp>
        <p:nvSpPr>
          <p:cNvPr name="TextBox 7" id="7"/>
          <p:cNvSpPr txBox="true"/>
          <p:nvPr/>
        </p:nvSpPr>
        <p:spPr>
          <a:xfrm rot="0">
            <a:off x="723281" y="3075366"/>
            <a:ext cx="2523753" cy="325374"/>
          </a:xfrm>
          <a:prstGeom prst="rect">
            <a:avLst/>
          </a:prstGeom>
        </p:spPr>
        <p:txBody>
          <a:bodyPr anchor="t" rtlCol="false" tIns="0" lIns="0" bIns="0" rIns="0">
            <a:spAutoFit/>
          </a:bodyPr>
          <a:lstStyle/>
          <a:p>
            <a:pPr algn="ctr">
              <a:lnSpc>
                <a:spcPts val="2568"/>
              </a:lnSpc>
              <a:spcBef>
                <a:spcPct val="0"/>
              </a:spcBef>
            </a:pPr>
            <a:r>
              <a:rPr lang="en-US" b="true" sz="2400" spc="-105">
                <a:solidFill>
                  <a:srgbClr val="FFFFFF"/>
                </a:solidFill>
                <a:latin typeface="Montserrat Bold"/>
                <a:ea typeface="Montserrat Bold"/>
                <a:cs typeface="Montserrat Bold"/>
                <a:sym typeface="Montserrat Bold"/>
              </a:rPr>
              <a:t>Volume Stacking</a:t>
            </a:r>
          </a:p>
        </p:txBody>
      </p:sp>
      <p:sp>
        <p:nvSpPr>
          <p:cNvPr name="TextBox 8" id="8"/>
          <p:cNvSpPr txBox="true"/>
          <p:nvPr/>
        </p:nvSpPr>
        <p:spPr>
          <a:xfrm rot="0">
            <a:off x="723281" y="4783458"/>
            <a:ext cx="2979167" cy="325374"/>
          </a:xfrm>
          <a:prstGeom prst="rect">
            <a:avLst/>
          </a:prstGeom>
        </p:spPr>
        <p:txBody>
          <a:bodyPr anchor="t" rtlCol="false" tIns="0" lIns="0" bIns="0" rIns="0">
            <a:spAutoFit/>
          </a:bodyPr>
          <a:lstStyle/>
          <a:p>
            <a:pPr algn="ctr">
              <a:lnSpc>
                <a:spcPts val="2568"/>
              </a:lnSpc>
              <a:spcBef>
                <a:spcPct val="0"/>
              </a:spcBef>
            </a:pPr>
            <a:r>
              <a:rPr lang="en-US" b="true" sz="2400" spc="-105">
                <a:solidFill>
                  <a:srgbClr val="FFFFFF"/>
                </a:solidFill>
                <a:latin typeface="Montserrat Bold"/>
                <a:ea typeface="Montserrat Bold"/>
                <a:cs typeface="Montserrat Bold"/>
                <a:sym typeface="Montserrat Bold"/>
              </a:rPr>
              <a:t>The Fe</a:t>
            </a:r>
            <a:r>
              <a:rPr lang="en-US" b="true" sz="2400" spc="-105">
                <a:solidFill>
                  <a:srgbClr val="FFFFFF"/>
                </a:solidFill>
                <a:latin typeface="Montserrat Bold"/>
                <a:ea typeface="Montserrat Bold"/>
                <a:cs typeface="Montserrat Bold"/>
                <a:sym typeface="Montserrat Bold"/>
              </a:rPr>
              <a:t>e Shock Zone</a:t>
            </a:r>
          </a:p>
        </p:txBody>
      </p:sp>
      <p:sp>
        <p:nvSpPr>
          <p:cNvPr name="TextBox 9" id="9"/>
          <p:cNvSpPr txBox="true"/>
          <p:nvPr/>
        </p:nvSpPr>
        <p:spPr>
          <a:xfrm rot="0">
            <a:off x="723281" y="5280282"/>
            <a:ext cx="7516877" cy="1240606"/>
          </a:xfrm>
          <a:prstGeom prst="rect">
            <a:avLst/>
          </a:prstGeom>
        </p:spPr>
        <p:txBody>
          <a:bodyPr anchor="t" rtlCol="false" tIns="0" lIns="0" bIns="0" rIns="0">
            <a:spAutoFit/>
          </a:bodyPr>
          <a:lstStyle/>
          <a:p>
            <a:pPr algn="just">
              <a:lnSpc>
                <a:spcPts val="2495"/>
              </a:lnSpc>
              <a:spcBef>
                <a:spcPct val="0"/>
              </a:spcBef>
            </a:pPr>
            <a:r>
              <a:rPr lang="en-US" sz="1782">
                <a:solidFill>
                  <a:srgbClr val="FFFFFF"/>
                </a:solidFill>
                <a:latin typeface="Montserrat"/>
                <a:ea typeface="Montserrat"/>
                <a:cs typeface="Montserrat"/>
                <a:sym typeface="Montserrat"/>
              </a:rPr>
              <a:t>While</a:t>
            </a:r>
            <a:r>
              <a:rPr lang="en-US" sz="1782">
                <a:solidFill>
                  <a:srgbClr val="FFFFFF"/>
                </a:solidFill>
                <a:latin typeface="Montserrat"/>
                <a:ea typeface="Montserrat"/>
                <a:cs typeface="Montserrat"/>
                <a:sym typeface="Montserrat"/>
              </a:rPr>
              <a:t> our stable, retained customer core shows standard distribution across lower and mid-tier fee structures, the churned subgroup volume swells significantly at the upper premium boundaries.</a:t>
            </a:r>
          </a:p>
        </p:txBody>
      </p:sp>
      <p:sp>
        <p:nvSpPr>
          <p:cNvPr name="TextBox 10" id="10"/>
          <p:cNvSpPr txBox="true"/>
          <p:nvPr/>
        </p:nvSpPr>
        <p:spPr>
          <a:xfrm rot="0">
            <a:off x="723281" y="6962468"/>
            <a:ext cx="2817614" cy="325374"/>
          </a:xfrm>
          <a:prstGeom prst="rect">
            <a:avLst/>
          </a:prstGeom>
        </p:spPr>
        <p:txBody>
          <a:bodyPr anchor="t" rtlCol="false" tIns="0" lIns="0" bIns="0" rIns="0">
            <a:spAutoFit/>
          </a:bodyPr>
          <a:lstStyle/>
          <a:p>
            <a:pPr algn="ctr">
              <a:lnSpc>
                <a:spcPts val="2568"/>
              </a:lnSpc>
              <a:spcBef>
                <a:spcPct val="0"/>
              </a:spcBef>
            </a:pPr>
            <a:r>
              <a:rPr lang="en-US" b="true" sz="2400" spc="-105">
                <a:solidFill>
                  <a:srgbClr val="FFFFFF"/>
                </a:solidFill>
                <a:latin typeface="Montserrat Bold"/>
                <a:ea typeface="Montserrat Bold"/>
                <a:cs typeface="Montserrat Bold"/>
                <a:sym typeface="Montserrat Bold"/>
              </a:rPr>
              <a:t>The Business</a:t>
            </a:r>
            <a:r>
              <a:rPr lang="en-US" b="true" sz="2400" spc="-105">
                <a:solidFill>
                  <a:srgbClr val="FFFFFF"/>
                </a:solidFill>
                <a:latin typeface="Montserrat Bold"/>
                <a:ea typeface="Montserrat Bold"/>
                <a:cs typeface="Montserrat Bold"/>
                <a:sym typeface="Montserrat Bold"/>
              </a:rPr>
              <a:t> Truth</a:t>
            </a:r>
          </a:p>
        </p:txBody>
      </p:sp>
      <p:sp>
        <p:nvSpPr>
          <p:cNvPr name="TextBox 11" id="11"/>
          <p:cNvSpPr txBox="true"/>
          <p:nvPr/>
        </p:nvSpPr>
        <p:spPr>
          <a:xfrm rot="0">
            <a:off x="723281" y="7459292"/>
            <a:ext cx="7516877" cy="926281"/>
          </a:xfrm>
          <a:prstGeom prst="rect">
            <a:avLst/>
          </a:prstGeom>
        </p:spPr>
        <p:txBody>
          <a:bodyPr anchor="t" rtlCol="false" tIns="0" lIns="0" bIns="0" rIns="0">
            <a:spAutoFit/>
          </a:bodyPr>
          <a:lstStyle/>
          <a:p>
            <a:pPr algn="just">
              <a:lnSpc>
                <a:spcPts val="2495"/>
              </a:lnSpc>
              <a:spcBef>
                <a:spcPct val="0"/>
              </a:spcBef>
            </a:pPr>
            <a:r>
              <a:rPr lang="en-US" sz="1782">
                <a:solidFill>
                  <a:srgbClr val="FFFFFF"/>
                </a:solidFill>
                <a:latin typeface="Montserrat"/>
                <a:ea typeface="Montserrat"/>
                <a:cs typeface="Montserrat"/>
                <a:sym typeface="Montserrat"/>
              </a:rPr>
              <a:t>High billing</a:t>
            </a:r>
            <a:r>
              <a:rPr lang="en-US" sz="1782">
                <a:solidFill>
                  <a:srgbClr val="FFFFFF"/>
                </a:solidFill>
                <a:latin typeface="Montserrat"/>
                <a:ea typeface="Montserrat"/>
                <a:cs typeface="Montserrat"/>
                <a:sym typeface="Montserrat"/>
              </a:rPr>
              <a:t> rates introduce persistent "price fatigue," making premium customers highly sensitive to alternative market options.</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false" rot="0">
            <a:off x="0" y="0"/>
            <a:ext cx="18288000" cy="10287000"/>
          </a:xfrm>
          <a:custGeom>
            <a:avLst/>
            <a:gdLst/>
            <a:ahLst/>
            <a:cxnLst/>
            <a:rect r="r" b="b" t="t" l="l"/>
            <a:pathLst>
              <a:path h="10287000" w="18288000">
                <a:moveTo>
                  <a:pt x="18288000" y="0"/>
                </a:moveTo>
                <a:lnTo>
                  <a:pt x="0" y="0"/>
                </a:lnTo>
                <a:lnTo>
                  <a:pt x="0" y="10287000"/>
                </a:lnTo>
                <a:lnTo>
                  <a:pt x="18288000" y="10287000"/>
                </a:lnTo>
                <a:lnTo>
                  <a:pt x="18288000" y="0"/>
                </a:lnTo>
                <a:close/>
              </a:path>
            </a:pathLst>
          </a:custGeom>
          <a:blipFill>
            <a:blip r:embed="rId2"/>
            <a:stretch>
              <a:fillRect l="0" t="-9222" r="0" b="-9222"/>
            </a:stretch>
          </a:blipFill>
        </p:spPr>
      </p:sp>
      <p:sp>
        <p:nvSpPr>
          <p:cNvPr name="Freeform 3" id="3"/>
          <p:cNvSpPr/>
          <p:nvPr/>
        </p:nvSpPr>
        <p:spPr>
          <a:xfrm flipH="false" flipV="false" rot="0">
            <a:off x="16655004" y="1203397"/>
            <a:ext cx="604296" cy="349393"/>
          </a:xfrm>
          <a:custGeom>
            <a:avLst/>
            <a:gdLst/>
            <a:ahLst/>
            <a:cxnLst/>
            <a:rect r="r" b="b" t="t" l="l"/>
            <a:pathLst>
              <a:path h="349393" w="604296">
                <a:moveTo>
                  <a:pt x="0" y="0"/>
                </a:moveTo>
                <a:lnTo>
                  <a:pt x="604296" y="0"/>
                </a:lnTo>
                <a:lnTo>
                  <a:pt x="604296" y="349393"/>
                </a:lnTo>
                <a:lnTo>
                  <a:pt x="0" y="34939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028700" y="2634370"/>
            <a:ext cx="5034187" cy="6623930"/>
          </a:xfrm>
          <a:custGeom>
            <a:avLst/>
            <a:gdLst/>
            <a:ahLst/>
            <a:cxnLst/>
            <a:rect r="r" b="b" t="t" l="l"/>
            <a:pathLst>
              <a:path h="6623930" w="5034187">
                <a:moveTo>
                  <a:pt x="0" y="0"/>
                </a:moveTo>
                <a:lnTo>
                  <a:pt x="5034187" y="0"/>
                </a:lnTo>
                <a:lnTo>
                  <a:pt x="5034187" y="6623930"/>
                </a:lnTo>
                <a:lnTo>
                  <a:pt x="0" y="662393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5" id="5"/>
          <p:cNvSpPr txBox="true"/>
          <p:nvPr/>
        </p:nvSpPr>
        <p:spPr>
          <a:xfrm rot="0">
            <a:off x="609255" y="432832"/>
            <a:ext cx="15951521" cy="1976247"/>
          </a:xfrm>
          <a:prstGeom prst="rect">
            <a:avLst/>
          </a:prstGeom>
        </p:spPr>
        <p:txBody>
          <a:bodyPr anchor="t" rtlCol="false" tIns="0" lIns="0" bIns="0" rIns="0">
            <a:spAutoFit/>
          </a:bodyPr>
          <a:lstStyle/>
          <a:p>
            <a:pPr algn="l">
              <a:lnSpc>
                <a:spcPts val="7704"/>
              </a:lnSpc>
            </a:pPr>
            <a:r>
              <a:rPr lang="en-US" b="true" sz="7200" spc="-316">
                <a:solidFill>
                  <a:srgbClr val="FFFFFF"/>
                </a:solidFill>
                <a:latin typeface="Montserrat Bold"/>
                <a:ea typeface="Montserrat Bold"/>
                <a:cs typeface="Montserrat Bold"/>
                <a:sym typeface="Montserrat Bold"/>
              </a:rPr>
              <a:t>Data Insights 4 &amp; 5 – </a:t>
            </a:r>
          </a:p>
          <a:p>
            <a:pPr algn="l">
              <a:lnSpc>
                <a:spcPts val="7704"/>
              </a:lnSpc>
            </a:pPr>
            <a:r>
              <a:rPr lang="en-US" b="true" sz="7200" spc="-316">
                <a:solidFill>
                  <a:srgbClr val="FFFFFF"/>
                </a:solidFill>
                <a:latin typeface="Montserrat Bold"/>
                <a:ea typeface="Montserrat Bold"/>
                <a:cs typeface="Montserrat Bold"/>
                <a:sym typeface="Montserrat Bold"/>
              </a:rPr>
              <a:t>Feature Interdependence</a:t>
            </a:r>
          </a:p>
        </p:txBody>
      </p:sp>
      <p:sp>
        <p:nvSpPr>
          <p:cNvPr name="TextBox 6" id="6"/>
          <p:cNvSpPr txBox="true"/>
          <p:nvPr/>
        </p:nvSpPr>
        <p:spPr>
          <a:xfrm rot="0">
            <a:off x="9163148" y="5020054"/>
            <a:ext cx="7172725" cy="926281"/>
          </a:xfrm>
          <a:prstGeom prst="rect">
            <a:avLst/>
          </a:prstGeom>
        </p:spPr>
        <p:txBody>
          <a:bodyPr anchor="t" rtlCol="false" tIns="0" lIns="0" bIns="0" rIns="0">
            <a:spAutoFit/>
          </a:bodyPr>
          <a:lstStyle/>
          <a:p>
            <a:pPr algn="just">
              <a:lnSpc>
                <a:spcPts val="2495"/>
              </a:lnSpc>
              <a:spcBef>
                <a:spcPct val="0"/>
              </a:spcBef>
            </a:pPr>
            <a:r>
              <a:rPr lang="en-US" sz="1782">
                <a:solidFill>
                  <a:srgbClr val="FFFFFF"/>
                </a:solidFill>
                <a:latin typeface="Montserrat"/>
                <a:ea typeface="Montserrat"/>
                <a:cs typeface="Montserrat"/>
                <a:sym typeface="Montserrat"/>
              </a:rPr>
              <a:t>P</a:t>
            </a:r>
            <a:r>
              <a:rPr lang="en-US" sz="1782">
                <a:solidFill>
                  <a:srgbClr val="FFFFFF"/>
                </a:solidFill>
                <a:latin typeface="Montserrat"/>
                <a:ea typeface="Montserrat"/>
                <a:cs typeface="Montserrat"/>
                <a:sym typeface="Montserrat"/>
              </a:rPr>
              <a:t>earson's matrix identifies Tenure as the strongest native linear counterweight against Churn, indicating an embedded loyalty equity effect.</a:t>
            </a:r>
          </a:p>
        </p:txBody>
      </p:sp>
      <p:sp>
        <p:nvSpPr>
          <p:cNvPr name="TextBox 7" id="7"/>
          <p:cNvSpPr txBox="true"/>
          <p:nvPr/>
        </p:nvSpPr>
        <p:spPr>
          <a:xfrm rot="0">
            <a:off x="9144000" y="4170805"/>
            <a:ext cx="3127921" cy="325374"/>
          </a:xfrm>
          <a:prstGeom prst="rect">
            <a:avLst/>
          </a:prstGeom>
        </p:spPr>
        <p:txBody>
          <a:bodyPr anchor="t" rtlCol="false" tIns="0" lIns="0" bIns="0" rIns="0">
            <a:spAutoFit/>
          </a:bodyPr>
          <a:lstStyle/>
          <a:p>
            <a:pPr algn="ctr">
              <a:lnSpc>
                <a:spcPts val="2568"/>
              </a:lnSpc>
              <a:spcBef>
                <a:spcPct val="0"/>
              </a:spcBef>
            </a:pPr>
            <a:r>
              <a:rPr lang="en-US" b="true" sz="2400" spc="-105">
                <a:solidFill>
                  <a:srgbClr val="FFFFFF"/>
                </a:solidFill>
                <a:latin typeface="Montserrat Bold"/>
                <a:ea typeface="Montserrat Bold"/>
                <a:cs typeface="Montserrat Bold"/>
                <a:sym typeface="Montserrat Bold"/>
              </a:rPr>
              <a:t>Linear Dependencies</a:t>
            </a:r>
          </a:p>
        </p:txBody>
      </p:sp>
      <p:sp>
        <p:nvSpPr>
          <p:cNvPr name="TextBox 8" id="8"/>
          <p:cNvSpPr txBox="true"/>
          <p:nvPr/>
        </p:nvSpPr>
        <p:spPr>
          <a:xfrm rot="0">
            <a:off x="9163148" y="7076582"/>
            <a:ext cx="3605510" cy="325374"/>
          </a:xfrm>
          <a:prstGeom prst="rect">
            <a:avLst/>
          </a:prstGeom>
        </p:spPr>
        <p:txBody>
          <a:bodyPr anchor="t" rtlCol="false" tIns="0" lIns="0" bIns="0" rIns="0">
            <a:spAutoFit/>
          </a:bodyPr>
          <a:lstStyle/>
          <a:p>
            <a:pPr algn="ctr">
              <a:lnSpc>
                <a:spcPts val="2568"/>
              </a:lnSpc>
              <a:spcBef>
                <a:spcPct val="0"/>
              </a:spcBef>
            </a:pPr>
            <a:r>
              <a:rPr lang="en-US" b="true" sz="2400" spc="-105">
                <a:solidFill>
                  <a:srgbClr val="FFFFFF"/>
                </a:solidFill>
                <a:latin typeface="Montserrat Bold"/>
                <a:ea typeface="Montserrat Bold"/>
                <a:cs typeface="Montserrat Bold"/>
                <a:sym typeface="Montserrat Bold"/>
              </a:rPr>
              <a:t>LTV Revenue Trajectory: </a:t>
            </a:r>
          </a:p>
        </p:txBody>
      </p:sp>
      <p:sp>
        <p:nvSpPr>
          <p:cNvPr name="TextBox 9" id="9"/>
          <p:cNvSpPr txBox="true"/>
          <p:nvPr/>
        </p:nvSpPr>
        <p:spPr>
          <a:xfrm rot="0">
            <a:off x="9144000" y="7848702"/>
            <a:ext cx="7172725" cy="1240606"/>
          </a:xfrm>
          <a:prstGeom prst="rect">
            <a:avLst/>
          </a:prstGeom>
        </p:spPr>
        <p:txBody>
          <a:bodyPr anchor="t" rtlCol="false" tIns="0" lIns="0" bIns="0" rIns="0">
            <a:spAutoFit/>
          </a:bodyPr>
          <a:lstStyle/>
          <a:p>
            <a:pPr algn="just">
              <a:lnSpc>
                <a:spcPts val="2495"/>
              </a:lnSpc>
              <a:spcBef>
                <a:spcPct val="0"/>
              </a:spcBef>
            </a:pPr>
            <a:r>
              <a:rPr lang="en-US" sz="1782">
                <a:solidFill>
                  <a:srgbClr val="FFFFFF"/>
                </a:solidFill>
                <a:latin typeface="Montserrat"/>
                <a:ea typeface="Montserrat"/>
                <a:cs typeface="Montserrat"/>
                <a:sym typeface="Montserrat"/>
              </a:rPr>
              <a:t>Th</a:t>
            </a:r>
            <a:r>
              <a:rPr lang="en-US" sz="1782">
                <a:solidFill>
                  <a:srgbClr val="FFFFFF"/>
                </a:solidFill>
                <a:latin typeface="Montserrat"/>
                <a:ea typeface="Montserrat"/>
                <a:cs typeface="Montserrat"/>
                <a:sym typeface="Montserrat"/>
              </a:rPr>
              <a:t>e bivariate scatter plot mapping accumulated revenue over time proves that retained accounts build compounding lifetime value, while churning profiles drop out prematurely along the bottom edge of the trend line.</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false" rot="0">
            <a:off x="0" y="0"/>
            <a:ext cx="18288000" cy="10287000"/>
          </a:xfrm>
          <a:custGeom>
            <a:avLst/>
            <a:gdLst/>
            <a:ahLst/>
            <a:cxnLst/>
            <a:rect r="r" b="b" t="t" l="l"/>
            <a:pathLst>
              <a:path h="10287000" w="18288000">
                <a:moveTo>
                  <a:pt x="18288000" y="0"/>
                </a:moveTo>
                <a:lnTo>
                  <a:pt x="0" y="0"/>
                </a:lnTo>
                <a:lnTo>
                  <a:pt x="0" y="10287000"/>
                </a:lnTo>
                <a:lnTo>
                  <a:pt x="18288000" y="10287000"/>
                </a:lnTo>
                <a:lnTo>
                  <a:pt x="18288000" y="0"/>
                </a:lnTo>
                <a:close/>
              </a:path>
            </a:pathLst>
          </a:custGeom>
          <a:blipFill>
            <a:blip r:embed="rId2"/>
            <a:stretch>
              <a:fillRect l="0" t="-9222" r="0" b="-9222"/>
            </a:stretch>
          </a:blipFill>
        </p:spPr>
      </p:sp>
      <p:sp>
        <p:nvSpPr>
          <p:cNvPr name="Freeform 3" id="3"/>
          <p:cNvSpPr/>
          <p:nvPr/>
        </p:nvSpPr>
        <p:spPr>
          <a:xfrm flipH="false" flipV="false" rot="0">
            <a:off x="16655004" y="1203397"/>
            <a:ext cx="604296" cy="349393"/>
          </a:xfrm>
          <a:custGeom>
            <a:avLst/>
            <a:gdLst/>
            <a:ahLst/>
            <a:cxnLst/>
            <a:rect r="r" b="b" t="t" l="l"/>
            <a:pathLst>
              <a:path h="349393" w="604296">
                <a:moveTo>
                  <a:pt x="0" y="0"/>
                </a:moveTo>
                <a:lnTo>
                  <a:pt x="604296" y="0"/>
                </a:lnTo>
                <a:lnTo>
                  <a:pt x="604296" y="349393"/>
                </a:lnTo>
                <a:lnTo>
                  <a:pt x="0" y="34939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187358" y="2438775"/>
            <a:ext cx="8748385" cy="6537429"/>
          </a:xfrm>
          <a:custGeom>
            <a:avLst/>
            <a:gdLst/>
            <a:ahLst/>
            <a:cxnLst/>
            <a:rect r="r" b="b" t="t" l="l"/>
            <a:pathLst>
              <a:path h="6537429" w="8748385">
                <a:moveTo>
                  <a:pt x="0" y="0"/>
                </a:moveTo>
                <a:lnTo>
                  <a:pt x="8748385" y="0"/>
                </a:lnTo>
                <a:lnTo>
                  <a:pt x="8748385" y="6537429"/>
                </a:lnTo>
                <a:lnTo>
                  <a:pt x="0" y="6537429"/>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5" id="5"/>
          <p:cNvSpPr txBox="true"/>
          <p:nvPr/>
        </p:nvSpPr>
        <p:spPr>
          <a:xfrm rot="0">
            <a:off x="1473372" y="607529"/>
            <a:ext cx="15341255" cy="1976247"/>
          </a:xfrm>
          <a:prstGeom prst="rect">
            <a:avLst/>
          </a:prstGeom>
        </p:spPr>
        <p:txBody>
          <a:bodyPr anchor="t" rtlCol="false" tIns="0" lIns="0" bIns="0" rIns="0">
            <a:spAutoFit/>
          </a:bodyPr>
          <a:lstStyle/>
          <a:p>
            <a:pPr algn="l">
              <a:lnSpc>
                <a:spcPts val="7704"/>
              </a:lnSpc>
            </a:pPr>
            <a:r>
              <a:rPr lang="en-US" sz="7200" spc="-316" b="true">
                <a:solidFill>
                  <a:srgbClr val="FFFFFF"/>
                </a:solidFill>
                <a:latin typeface="Montserrat Bold"/>
                <a:ea typeface="Montserrat Bold"/>
                <a:cs typeface="Montserrat Bold"/>
                <a:sym typeface="Montserrat Bold"/>
              </a:rPr>
              <a:t>Statis</a:t>
            </a:r>
            <a:r>
              <a:rPr lang="en-US" b="true" sz="7200" spc="-316">
                <a:solidFill>
                  <a:srgbClr val="FFFFFF"/>
                </a:solidFill>
                <a:latin typeface="Montserrat Bold"/>
                <a:ea typeface="Montserrat Bold"/>
                <a:cs typeface="Montserrat Bold"/>
                <a:sym typeface="Montserrat Bold"/>
              </a:rPr>
              <a:t>tical Proof </a:t>
            </a:r>
          </a:p>
          <a:p>
            <a:pPr algn="l">
              <a:lnSpc>
                <a:spcPts val="7704"/>
              </a:lnSpc>
            </a:pPr>
            <a:r>
              <a:rPr lang="en-US" b="true" sz="7200" spc="-316">
                <a:solidFill>
                  <a:srgbClr val="FFFFFF"/>
                </a:solidFill>
                <a:latin typeface="Montserrat Bold"/>
                <a:ea typeface="Montserrat Bold"/>
                <a:cs typeface="Montserrat Bold"/>
                <a:sym typeface="Montserrat Bold"/>
              </a:rPr>
              <a:t>Pricing Fatigue Validation</a:t>
            </a:r>
          </a:p>
        </p:txBody>
      </p:sp>
      <p:sp>
        <p:nvSpPr>
          <p:cNvPr name="TextBox 6" id="6"/>
          <p:cNvSpPr txBox="true"/>
          <p:nvPr/>
        </p:nvSpPr>
        <p:spPr>
          <a:xfrm rot="0">
            <a:off x="10483798" y="5114925"/>
            <a:ext cx="6473354" cy="3440881"/>
          </a:xfrm>
          <a:prstGeom prst="rect">
            <a:avLst/>
          </a:prstGeom>
        </p:spPr>
        <p:txBody>
          <a:bodyPr anchor="t" rtlCol="false" tIns="0" lIns="0" bIns="0" rIns="0">
            <a:spAutoFit/>
          </a:bodyPr>
          <a:lstStyle/>
          <a:p>
            <a:pPr algn="l" marL="384787" indent="-192394" lvl="1">
              <a:lnSpc>
                <a:spcPts val="2495"/>
              </a:lnSpc>
              <a:spcBef>
                <a:spcPct val="0"/>
              </a:spcBef>
              <a:buFont typeface="Arial"/>
              <a:buChar char="•"/>
            </a:pPr>
            <a:r>
              <a:rPr lang="en-US" sz="1782">
                <a:solidFill>
                  <a:srgbClr val="FFFFFF"/>
                </a:solidFill>
                <a:latin typeface="Montserrat"/>
                <a:ea typeface="Montserrat"/>
                <a:cs typeface="Montserrat"/>
                <a:sym typeface="Montserrat"/>
              </a:rPr>
              <a:t>Th</a:t>
            </a:r>
            <a:r>
              <a:rPr lang="en-US" sz="1782">
                <a:solidFill>
                  <a:srgbClr val="FFFFFF"/>
                </a:solidFill>
                <a:latin typeface="Montserrat"/>
                <a:ea typeface="Montserrat"/>
                <a:cs typeface="Montserrat"/>
                <a:sym typeface="Montserrat"/>
              </a:rPr>
              <a:t>e Methodology: Because group sizes and variances differed, we applied an unequal variance T-Test (equal_var=False) to evaluate if the $18.05 cost premium faced by churned accounts was meaningful.</a:t>
            </a:r>
          </a:p>
          <a:p>
            <a:pPr algn="l" marL="384787" indent="-192394" lvl="1">
              <a:lnSpc>
                <a:spcPts val="2495"/>
              </a:lnSpc>
              <a:spcBef>
                <a:spcPct val="0"/>
              </a:spcBef>
              <a:buFont typeface="Arial"/>
              <a:buChar char="•"/>
            </a:pPr>
            <a:r>
              <a:rPr lang="en-US" sz="1782">
                <a:solidFill>
                  <a:srgbClr val="FFFFFF"/>
                </a:solidFill>
                <a:latin typeface="Montserrat"/>
                <a:ea typeface="Montserrat"/>
                <a:cs typeface="Montserrat"/>
                <a:sym typeface="Montserrat"/>
              </a:rPr>
              <a:t>The Verdict : Our calculated $p$-value falls well below the standard alpha significance threshold, meaning we officially reject the Null Hypothesis. Premium price pressure is mathematically proven to be a direct driver of customer loss.</a:t>
            </a:r>
          </a:p>
          <a:p>
            <a:pPr algn="l">
              <a:lnSpc>
                <a:spcPts val="2495"/>
              </a:lnSpc>
              <a:spcBef>
                <a:spcPct val="0"/>
              </a:spcBef>
            </a:pPr>
          </a:p>
        </p:txBody>
      </p:sp>
      <p:sp>
        <p:nvSpPr>
          <p:cNvPr name="TextBox 7" id="7"/>
          <p:cNvSpPr txBox="true"/>
          <p:nvPr/>
        </p:nvSpPr>
        <p:spPr>
          <a:xfrm rot="0">
            <a:off x="10483798" y="3080020"/>
            <a:ext cx="6473354" cy="973074"/>
          </a:xfrm>
          <a:prstGeom prst="rect">
            <a:avLst/>
          </a:prstGeom>
        </p:spPr>
        <p:txBody>
          <a:bodyPr anchor="t" rtlCol="false" tIns="0" lIns="0" bIns="0" rIns="0">
            <a:spAutoFit/>
          </a:bodyPr>
          <a:lstStyle/>
          <a:p>
            <a:pPr algn="ctr">
              <a:lnSpc>
                <a:spcPts val="2568"/>
              </a:lnSpc>
              <a:spcBef>
                <a:spcPct val="0"/>
              </a:spcBef>
            </a:pPr>
            <a:r>
              <a:rPr lang="en-US" b="true" sz="2400" spc="-105">
                <a:solidFill>
                  <a:srgbClr val="FFFFFF"/>
                </a:solidFill>
                <a:latin typeface="Montserrat Bold"/>
                <a:ea typeface="Montserrat Bold"/>
                <a:cs typeface="Montserrat Bold"/>
                <a:sym typeface="Montserrat Bold"/>
              </a:rPr>
              <a:t>The Metric Breakdown:</a:t>
            </a:r>
          </a:p>
          <a:p>
            <a:pPr algn="ctr">
              <a:lnSpc>
                <a:spcPts val="2568"/>
              </a:lnSpc>
              <a:spcBef>
                <a:spcPct val="0"/>
              </a:spcBef>
            </a:pPr>
            <a:r>
              <a:rPr lang="en-US" b="true" sz="2400" spc="-105">
                <a:solidFill>
                  <a:srgbClr val="FFFFFF"/>
                </a:solidFill>
                <a:latin typeface="Montserrat Bold"/>
                <a:ea typeface="Montserrat Bold"/>
                <a:cs typeface="Montserrat Bold"/>
                <a:sym typeface="Montserrat Bold"/>
              </a:rPr>
              <a:t>Retained Base Average Monthly Fee: $111.72</a:t>
            </a:r>
          </a:p>
          <a:p>
            <a:pPr algn="ctr">
              <a:lnSpc>
                <a:spcPts val="2568"/>
              </a:lnSpc>
              <a:spcBef>
                <a:spcPct val="0"/>
              </a:spcBef>
            </a:pPr>
            <a:r>
              <a:rPr lang="en-US" b="true" sz="2400" spc="-105">
                <a:solidFill>
                  <a:srgbClr val="FFFFFF"/>
                </a:solidFill>
                <a:latin typeface="Montserrat Bold"/>
                <a:ea typeface="Montserrat Bold"/>
                <a:cs typeface="Montserrat Bold"/>
                <a:sym typeface="Montserrat Bold"/>
              </a:rPr>
              <a:t>Churned Base Average Monthly Fee: $129.77</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false" rot="0">
            <a:off x="0" y="0"/>
            <a:ext cx="18288000" cy="10287000"/>
          </a:xfrm>
          <a:custGeom>
            <a:avLst/>
            <a:gdLst/>
            <a:ahLst/>
            <a:cxnLst/>
            <a:rect r="r" b="b" t="t" l="l"/>
            <a:pathLst>
              <a:path h="10287000" w="18288000">
                <a:moveTo>
                  <a:pt x="18288000" y="0"/>
                </a:moveTo>
                <a:lnTo>
                  <a:pt x="0" y="0"/>
                </a:lnTo>
                <a:lnTo>
                  <a:pt x="0" y="10287000"/>
                </a:lnTo>
                <a:lnTo>
                  <a:pt x="18288000" y="10287000"/>
                </a:lnTo>
                <a:lnTo>
                  <a:pt x="18288000" y="0"/>
                </a:lnTo>
                <a:close/>
              </a:path>
            </a:pathLst>
          </a:custGeom>
          <a:blipFill>
            <a:blip r:embed="rId2"/>
            <a:stretch>
              <a:fillRect l="0" t="-9222" r="0" b="-9222"/>
            </a:stretch>
          </a:blipFill>
        </p:spPr>
      </p:sp>
      <p:sp>
        <p:nvSpPr>
          <p:cNvPr name="Freeform 3" id="3"/>
          <p:cNvSpPr/>
          <p:nvPr/>
        </p:nvSpPr>
        <p:spPr>
          <a:xfrm flipH="false" flipV="false" rot="0">
            <a:off x="16655004" y="1203397"/>
            <a:ext cx="604296" cy="349393"/>
          </a:xfrm>
          <a:custGeom>
            <a:avLst/>
            <a:gdLst/>
            <a:ahLst/>
            <a:cxnLst/>
            <a:rect r="r" b="b" t="t" l="l"/>
            <a:pathLst>
              <a:path h="349393" w="604296">
                <a:moveTo>
                  <a:pt x="0" y="0"/>
                </a:moveTo>
                <a:lnTo>
                  <a:pt x="604296" y="0"/>
                </a:lnTo>
                <a:lnTo>
                  <a:pt x="604296" y="349393"/>
                </a:lnTo>
                <a:lnTo>
                  <a:pt x="0" y="34939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2545879" y="3000017"/>
            <a:ext cx="12275443" cy="3687036"/>
          </a:xfrm>
          <a:custGeom>
            <a:avLst/>
            <a:gdLst/>
            <a:ahLst/>
            <a:cxnLst/>
            <a:rect r="r" b="b" t="t" l="l"/>
            <a:pathLst>
              <a:path h="3687036" w="12275443">
                <a:moveTo>
                  <a:pt x="0" y="0"/>
                </a:moveTo>
                <a:lnTo>
                  <a:pt x="12275443" y="0"/>
                </a:lnTo>
                <a:lnTo>
                  <a:pt x="12275443" y="3687036"/>
                </a:lnTo>
                <a:lnTo>
                  <a:pt x="0" y="3687036"/>
                </a:lnTo>
                <a:lnTo>
                  <a:pt x="0" y="0"/>
                </a:lnTo>
                <a:close/>
              </a:path>
            </a:pathLst>
          </a:custGeom>
          <a:blipFill>
            <a:blip r:embed="rId5"/>
            <a:stretch>
              <a:fillRect l="0" t="-4310" r="0" b="-4310"/>
            </a:stretch>
          </a:blipFill>
        </p:spPr>
      </p:sp>
      <p:sp>
        <p:nvSpPr>
          <p:cNvPr name="TextBox 5" id="5"/>
          <p:cNvSpPr txBox="true"/>
          <p:nvPr/>
        </p:nvSpPr>
        <p:spPr>
          <a:xfrm rot="0">
            <a:off x="807737" y="607529"/>
            <a:ext cx="15847267" cy="1976247"/>
          </a:xfrm>
          <a:prstGeom prst="rect">
            <a:avLst/>
          </a:prstGeom>
        </p:spPr>
        <p:txBody>
          <a:bodyPr anchor="t" rtlCol="false" tIns="0" lIns="0" bIns="0" rIns="0">
            <a:spAutoFit/>
          </a:bodyPr>
          <a:lstStyle/>
          <a:p>
            <a:pPr algn="ctr">
              <a:lnSpc>
                <a:spcPts val="7704"/>
              </a:lnSpc>
            </a:pPr>
            <a:r>
              <a:rPr lang="en-US" b="true" sz="7200" spc="-316">
                <a:solidFill>
                  <a:srgbClr val="FFFFFF"/>
                </a:solidFill>
                <a:latin typeface="Montserrat Bold"/>
                <a:ea typeface="Montserrat Bold"/>
                <a:cs typeface="Montserrat Bold"/>
                <a:sym typeface="Montserrat Bold"/>
              </a:rPr>
              <a:t>Predictive Modeling </a:t>
            </a:r>
          </a:p>
          <a:p>
            <a:pPr algn="ctr">
              <a:lnSpc>
                <a:spcPts val="7704"/>
              </a:lnSpc>
            </a:pPr>
            <a:r>
              <a:rPr lang="en-US" b="true" sz="7200" spc="-316">
                <a:solidFill>
                  <a:srgbClr val="FFFFFF"/>
                </a:solidFill>
                <a:latin typeface="Montserrat Bold"/>
                <a:ea typeface="Montserrat Bold"/>
                <a:cs typeface="Montserrat Bold"/>
                <a:sym typeface="Montserrat Bold"/>
              </a:rPr>
              <a:t>Multiv</a:t>
            </a:r>
            <a:r>
              <a:rPr lang="en-US" b="true" sz="7200" spc="-316">
                <a:solidFill>
                  <a:srgbClr val="FFFFFF"/>
                </a:solidFill>
                <a:latin typeface="Montserrat Bold"/>
                <a:ea typeface="Montserrat Bold"/>
                <a:cs typeface="Montserrat Bold"/>
                <a:sym typeface="Montserrat Bold"/>
              </a:rPr>
              <a:t>ariate Risk Profiling</a:t>
            </a:r>
          </a:p>
        </p:txBody>
      </p:sp>
      <p:sp>
        <p:nvSpPr>
          <p:cNvPr name="TextBox 6" id="6"/>
          <p:cNvSpPr txBox="true"/>
          <p:nvPr/>
        </p:nvSpPr>
        <p:spPr>
          <a:xfrm rot="0">
            <a:off x="1028700" y="7074719"/>
            <a:ext cx="4875956" cy="1554931"/>
          </a:xfrm>
          <a:prstGeom prst="rect">
            <a:avLst/>
          </a:prstGeom>
        </p:spPr>
        <p:txBody>
          <a:bodyPr anchor="t" rtlCol="false" tIns="0" lIns="0" bIns="0" rIns="0">
            <a:spAutoFit/>
          </a:bodyPr>
          <a:lstStyle/>
          <a:p>
            <a:pPr algn="l">
              <a:lnSpc>
                <a:spcPts val="2495"/>
              </a:lnSpc>
              <a:spcBef>
                <a:spcPct val="0"/>
              </a:spcBef>
            </a:pPr>
            <a:r>
              <a:rPr lang="en-US" sz="1782">
                <a:solidFill>
                  <a:srgbClr val="FFFFFF"/>
                </a:solidFill>
                <a:latin typeface="Montserrat"/>
                <a:ea typeface="Montserrat"/>
                <a:cs typeface="Montserrat"/>
                <a:sym typeface="Montserrat"/>
              </a:rPr>
              <a:t>Th</a:t>
            </a:r>
            <a:r>
              <a:rPr lang="en-US" sz="1782">
                <a:solidFill>
                  <a:srgbClr val="FFFFFF"/>
                </a:solidFill>
                <a:latin typeface="Montserrat"/>
                <a:ea typeface="Montserrat"/>
                <a:cs typeface="Montserrat"/>
                <a:sym typeface="Montserrat"/>
              </a:rPr>
              <a:t>e Framework: Built a multivariate Maximum Likelihood Estimation (smf.logit) model to evaluate all factors concurrently, avoiding single-variable evaluation bias.</a:t>
            </a:r>
          </a:p>
        </p:txBody>
      </p:sp>
      <p:sp>
        <p:nvSpPr>
          <p:cNvPr name="TextBox 7" id="7"/>
          <p:cNvSpPr txBox="true"/>
          <p:nvPr/>
        </p:nvSpPr>
        <p:spPr>
          <a:xfrm rot="0">
            <a:off x="6706022" y="7074719"/>
            <a:ext cx="9948981" cy="2497906"/>
          </a:xfrm>
          <a:prstGeom prst="rect">
            <a:avLst/>
          </a:prstGeom>
        </p:spPr>
        <p:txBody>
          <a:bodyPr anchor="t" rtlCol="false" tIns="0" lIns="0" bIns="0" rIns="0">
            <a:spAutoFit/>
          </a:bodyPr>
          <a:lstStyle/>
          <a:p>
            <a:pPr algn="l" marL="384787" indent="-192394" lvl="1">
              <a:lnSpc>
                <a:spcPts val="2495"/>
              </a:lnSpc>
              <a:spcBef>
                <a:spcPct val="0"/>
              </a:spcBef>
              <a:buFont typeface="Arial"/>
              <a:buChar char="•"/>
            </a:pPr>
            <a:r>
              <a:rPr lang="en-US" sz="1782">
                <a:solidFill>
                  <a:srgbClr val="FFFFFF"/>
                </a:solidFill>
                <a:latin typeface="Montserrat"/>
                <a:ea typeface="Montserrat"/>
                <a:cs typeface="Montserrat"/>
                <a:sym typeface="Montserrat"/>
              </a:rPr>
              <a:t>T</a:t>
            </a:r>
            <a:r>
              <a:rPr lang="en-US" sz="1782">
                <a:solidFill>
                  <a:srgbClr val="FFFFFF"/>
                </a:solidFill>
                <a:latin typeface="Montserrat"/>
                <a:ea typeface="Montserrat"/>
                <a:cs typeface="Montserrat"/>
                <a:sym typeface="Montserrat"/>
              </a:rPr>
              <a:t>enure: Negative coefficient, highly significant ---&gt; Confirms compounding loyalty equity.</a:t>
            </a:r>
          </a:p>
          <a:p>
            <a:pPr algn="l" marL="384787" indent="-192394" lvl="1">
              <a:lnSpc>
                <a:spcPts val="2495"/>
              </a:lnSpc>
              <a:spcBef>
                <a:spcPct val="0"/>
              </a:spcBef>
              <a:buFont typeface="Arial"/>
              <a:buChar char="•"/>
            </a:pPr>
            <a:r>
              <a:rPr lang="en-US" sz="1782">
                <a:solidFill>
                  <a:srgbClr val="FFFFFF"/>
                </a:solidFill>
                <a:latin typeface="Montserrat"/>
                <a:ea typeface="Montserrat"/>
                <a:cs typeface="Montserrat"/>
                <a:sym typeface="Montserrat"/>
              </a:rPr>
              <a:t>Monthly Charges: Positive coefficient, highly significant ---&gt; Serves as a continuous risk multiplier.</a:t>
            </a:r>
          </a:p>
          <a:p>
            <a:pPr algn="l" marL="384787" indent="-192394" lvl="1">
              <a:lnSpc>
                <a:spcPts val="2495"/>
              </a:lnSpc>
              <a:spcBef>
                <a:spcPct val="0"/>
              </a:spcBef>
              <a:buFont typeface="Arial"/>
              <a:buChar char="•"/>
            </a:pPr>
            <a:r>
              <a:rPr lang="en-US" sz="1782">
                <a:solidFill>
                  <a:srgbClr val="FFFFFF"/>
                </a:solidFill>
                <a:latin typeface="Montserrat"/>
                <a:ea typeface="Montserrat"/>
                <a:cs typeface="Montserrat"/>
                <a:sym typeface="Montserrat"/>
              </a:rPr>
              <a:t>Fixed Contracts: Massive negative coefficients across both One-Year and Two-Year terms ---&gt; Stands out as the absolute strongest statistical shield against portfolio attrition.</a:t>
            </a:r>
          </a:p>
          <a:p>
            <a:pPr algn="just">
              <a:lnSpc>
                <a:spcPts val="2495"/>
              </a:lnSpc>
              <a:spcBef>
                <a:spcPct val="0"/>
              </a:spcBef>
            </a:pP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false" rot="0">
            <a:off x="0" y="0"/>
            <a:ext cx="18288000" cy="10287000"/>
          </a:xfrm>
          <a:custGeom>
            <a:avLst/>
            <a:gdLst/>
            <a:ahLst/>
            <a:cxnLst/>
            <a:rect r="r" b="b" t="t" l="l"/>
            <a:pathLst>
              <a:path h="10287000" w="18288000">
                <a:moveTo>
                  <a:pt x="18288000" y="0"/>
                </a:moveTo>
                <a:lnTo>
                  <a:pt x="0" y="0"/>
                </a:lnTo>
                <a:lnTo>
                  <a:pt x="0" y="10287000"/>
                </a:lnTo>
                <a:lnTo>
                  <a:pt x="18288000" y="10287000"/>
                </a:lnTo>
                <a:lnTo>
                  <a:pt x="18288000" y="0"/>
                </a:lnTo>
                <a:close/>
              </a:path>
            </a:pathLst>
          </a:custGeom>
          <a:blipFill>
            <a:blip r:embed="rId2"/>
            <a:stretch>
              <a:fillRect l="0" t="-9222" r="0" b="-9222"/>
            </a:stretch>
          </a:blipFill>
        </p:spPr>
      </p:sp>
      <p:sp>
        <p:nvSpPr>
          <p:cNvPr name="Freeform 3" id="3"/>
          <p:cNvSpPr/>
          <p:nvPr/>
        </p:nvSpPr>
        <p:spPr>
          <a:xfrm flipH="false" flipV="false" rot="0">
            <a:off x="16655004" y="1203397"/>
            <a:ext cx="604296" cy="349393"/>
          </a:xfrm>
          <a:custGeom>
            <a:avLst/>
            <a:gdLst/>
            <a:ahLst/>
            <a:cxnLst/>
            <a:rect r="r" b="b" t="t" l="l"/>
            <a:pathLst>
              <a:path h="349393" w="604296">
                <a:moveTo>
                  <a:pt x="0" y="0"/>
                </a:moveTo>
                <a:lnTo>
                  <a:pt x="604296" y="0"/>
                </a:lnTo>
                <a:lnTo>
                  <a:pt x="604296" y="349393"/>
                </a:lnTo>
                <a:lnTo>
                  <a:pt x="0" y="34939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1041792" y="2405336"/>
            <a:ext cx="6217508" cy="6852964"/>
          </a:xfrm>
          <a:custGeom>
            <a:avLst/>
            <a:gdLst/>
            <a:ahLst/>
            <a:cxnLst/>
            <a:rect r="r" b="b" t="t" l="l"/>
            <a:pathLst>
              <a:path h="6852964" w="6217508">
                <a:moveTo>
                  <a:pt x="0" y="0"/>
                </a:moveTo>
                <a:lnTo>
                  <a:pt x="6217508" y="0"/>
                </a:lnTo>
                <a:lnTo>
                  <a:pt x="6217508" y="6852964"/>
                </a:lnTo>
                <a:lnTo>
                  <a:pt x="0" y="6852964"/>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5" id="5"/>
          <p:cNvSpPr txBox="true"/>
          <p:nvPr/>
        </p:nvSpPr>
        <p:spPr>
          <a:xfrm rot="0">
            <a:off x="1028700" y="723654"/>
            <a:ext cx="13372188" cy="1976247"/>
          </a:xfrm>
          <a:prstGeom prst="rect">
            <a:avLst/>
          </a:prstGeom>
        </p:spPr>
        <p:txBody>
          <a:bodyPr anchor="t" rtlCol="false" tIns="0" lIns="0" bIns="0" rIns="0">
            <a:spAutoFit/>
          </a:bodyPr>
          <a:lstStyle/>
          <a:p>
            <a:pPr algn="l">
              <a:lnSpc>
                <a:spcPts val="7704"/>
              </a:lnSpc>
            </a:pPr>
            <a:r>
              <a:rPr lang="en-US" sz="7200" spc="-316" b="true">
                <a:solidFill>
                  <a:srgbClr val="FFFFFF"/>
                </a:solidFill>
                <a:latin typeface="Montserrat Bold"/>
                <a:ea typeface="Montserrat Bold"/>
                <a:cs typeface="Montserrat Bold"/>
                <a:sym typeface="Montserrat Bold"/>
              </a:rPr>
              <a:t>Strategy I – Onboard</a:t>
            </a:r>
            <a:r>
              <a:rPr lang="en-US" b="true" sz="7200" spc="-316">
                <a:solidFill>
                  <a:srgbClr val="FFFFFF"/>
                </a:solidFill>
                <a:latin typeface="Montserrat Bold"/>
                <a:ea typeface="Montserrat Bold"/>
                <a:cs typeface="Montserrat Bold"/>
                <a:sym typeface="Montserrat Bold"/>
              </a:rPr>
              <a:t>ing Safekeeping</a:t>
            </a:r>
          </a:p>
        </p:txBody>
      </p:sp>
      <p:sp>
        <p:nvSpPr>
          <p:cNvPr name="TextBox 6" id="6"/>
          <p:cNvSpPr txBox="true"/>
          <p:nvPr/>
        </p:nvSpPr>
        <p:spPr>
          <a:xfrm rot="0">
            <a:off x="1187358" y="3662478"/>
            <a:ext cx="8356104" cy="1120521"/>
          </a:xfrm>
          <a:prstGeom prst="rect">
            <a:avLst/>
          </a:prstGeom>
        </p:spPr>
        <p:txBody>
          <a:bodyPr anchor="t" rtlCol="false" tIns="0" lIns="0" bIns="0" rIns="0">
            <a:spAutoFit/>
          </a:bodyPr>
          <a:lstStyle/>
          <a:p>
            <a:pPr algn="l">
              <a:lnSpc>
                <a:spcPts val="2568"/>
              </a:lnSpc>
              <a:spcBef>
                <a:spcPct val="0"/>
              </a:spcBef>
            </a:pPr>
            <a:r>
              <a:rPr lang="en-US" b="true" sz="2400" spc="-105">
                <a:solidFill>
                  <a:srgbClr val="FFFFFF"/>
                </a:solidFill>
                <a:latin typeface="Montserrat Bold"/>
                <a:ea typeface="Montserrat Bold"/>
                <a:cs typeface="Montserrat Bold"/>
                <a:sym typeface="Montserrat Bold"/>
              </a:rPr>
              <a:t>Strategic Play: </a:t>
            </a:r>
          </a:p>
          <a:p>
            <a:pPr algn="l">
              <a:lnSpc>
                <a:spcPts val="2568"/>
              </a:lnSpc>
              <a:spcBef>
                <a:spcPct val="0"/>
              </a:spcBef>
            </a:pPr>
          </a:p>
          <a:p>
            <a:pPr algn="l">
              <a:lnSpc>
                <a:spcPts val="1926"/>
              </a:lnSpc>
              <a:spcBef>
                <a:spcPct val="0"/>
              </a:spcBef>
            </a:pPr>
            <a:r>
              <a:rPr lang="en-US" sz="1800" spc="-79">
                <a:solidFill>
                  <a:srgbClr val="FFFFFF"/>
                </a:solidFill>
                <a:latin typeface="Montserrat"/>
                <a:ea typeface="Montserrat"/>
                <a:cs typeface="Montserrat"/>
                <a:sym typeface="Montserrat"/>
              </a:rPr>
              <a:t>Shift customer success parameters from reactive ticket handling to automated, </a:t>
            </a:r>
          </a:p>
          <a:p>
            <a:pPr algn="l">
              <a:lnSpc>
                <a:spcPts val="1926"/>
              </a:lnSpc>
              <a:spcBef>
                <a:spcPct val="0"/>
              </a:spcBef>
            </a:pPr>
            <a:r>
              <a:rPr lang="en-US" sz="1800" spc="-79">
                <a:solidFill>
                  <a:srgbClr val="FFFFFF"/>
                </a:solidFill>
                <a:latin typeface="Montserrat"/>
                <a:ea typeface="Montserrat"/>
                <a:cs typeface="Montserrat"/>
                <a:sym typeface="Montserrat"/>
              </a:rPr>
              <a:t>proactive lifecycle management</a:t>
            </a:r>
            <a:r>
              <a:rPr lang="en-US" b="true" sz="1800" spc="-79">
                <a:solidFill>
                  <a:srgbClr val="FFFFFF"/>
                </a:solidFill>
                <a:latin typeface="Montserrat Bold"/>
                <a:ea typeface="Montserrat Bold"/>
                <a:cs typeface="Montserrat Bold"/>
                <a:sym typeface="Montserrat Bold"/>
              </a:rPr>
              <a:t>.</a:t>
            </a:r>
          </a:p>
        </p:txBody>
      </p:sp>
      <p:sp>
        <p:nvSpPr>
          <p:cNvPr name="TextBox 7" id="7"/>
          <p:cNvSpPr txBox="true"/>
          <p:nvPr/>
        </p:nvSpPr>
        <p:spPr>
          <a:xfrm rot="0">
            <a:off x="1187358" y="5181600"/>
            <a:ext cx="8638310" cy="2073021"/>
          </a:xfrm>
          <a:prstGeom prst="rect">
            <a:avLst/>
          </a:prstGeom>
        </p:spPr>
        <p:txBody>
          <a:bodyPr anchor="t" rtlCol="false" tIns="0" lIns="0" bIns="0" rIns="0">
            <a:spAutoFit/>
          </a:bodyPr>
          <a:lstStyle/>
          <a:p>
            <a:pPr algn="l">
              <a:lnSpc>
                <a:spcPts val="2568"/>
              </a:lnSpc>
              <a:spcBef>
                <a:spcPct val="0"/>
              </a:spcBef>
            </a:pPr>
            <a:r>
              <a:rPr lang="en-US" b="true" sz="2400" spc="-105">
                <a:solidFill>
                  <a:srgbClr val="FFFFFF"/>
                </a:solidFill>
                <a:latin typeface="Montserrat Bold"/>
                <a:ea typeface="Montserrat Bold"/>
                <a:cs typeface="Montserrat Bold"/>
                <a:sym typeface="Montserrat Bold"/>
              </a:rPr>
              <a:t>Ac</a:t>
            </a:r>
            <a:r>
              <a:rPr lang="en-US" b="true" sz="2400" spc="-105">
                <a:solidFill>
                  <a:srgbClr val="FFFFFF"/>
                </a:solidFill>
                <a:latin typeface="Montserrat Bold"/>
                <a:ea typeface="Montserrat Bold"/>
                <a:cs typeface="Montserrat Bold"/>
                <a:sym typeface="Montserrat Bold"/>
              </a:rPr>
              <a:t>tion Plan: </a:t>
            </a:r>
          </a:p>
          <a:p>
            <a:pPr algn="l">
              <a:lnSpc>
                <a:spcPts val="2568"/>
              </a:lnSpc>
              <a:spcBef>
                <a:spcPct val="0"/>
              </a:spcBef>
            </a:pPr>
          </a:p>
          <a:p>
            <a:pPr algn="l">
              <a:lnSpc>
                <a:spcPts val="1926"/>
              </a:lnSpc>
              <a:spcBef>
                <a:spcPct val="0"/>
              </a:spcBef>
            </a:pPr>
            <a:r>
              <a:rPr lang="en-US" sz="1800" spc="-79">
                <a:solidFill>
                  <a:srgbClr val="FFFFFF"/>
                </a:solidFill>
                <a:latin typeface="Montserrat"/>
                <a:ea typeface="Montserrat"/>
                <a:cs typeface="Montserrat"/>
                <a:sym typeface="Montserrat"/>
              </a:rPr>
              <a:t>Month 2 Milestone: Trigger automated product-adoption and health-check diagnostics immediately following initial customer onboarding.</a:t>
            </a:r>
          </a:p>
          <a:p>
            <a:pPr algn="l">
              <a:lnSpc>
                <a:spcPts val="1926"/>
              </a:lnSpc>
              <a:spcBef>
                <a:spcPct val="0"/>
              </a:spcBef>
            </a:pPr>
          </a:p>
          <a:p>
            <a:pPr algn="l">
              <a:lnSpc>
                <a:spcPts val="1926"/>
              </a:lnSpc>
              <a:spcBef>
                <a:spcPct val="0"/>
              </a:spcBef>
            </a:pPr>
            <a:r>
              <a:rPr lang="en-US" sz="1800" spc="-79">
                <a:solidFill>
                  <a:srgbClr val="FFFFFF"/>
                </a:solidFill>
                <a:latin typeface="Montserrat"/>
                <a:ea typeface="Montserrat"/>
                <a:cs typeface="Montserrat"/>
                <a:sym typeface="Montserrat"/>
              </a:rPr>
              <a:t>Month 5 Milestone: Deploy proactive customer success outreach calls and feedback loops four weeks prior to the verified 6-month retention cliff.</a:t>
            </a:r>
          </a:p>
          <a:p>
            <a:pPr algn="l">
              <a:lnSpc>
                <a:spcPts val="1926"/>
              </a:lnSpc>
              <a:spcBef>
                <a:spcPct val="0"/>
              </a:spcBef>
            </a:pPr>
          </a:p>
        </p:txBody>
      </p:sp>
      <p:sp>
        <p:nvSpPr>
          <p:cNvPr name="TextBox 8" id="8"/>
          <p:cNvSpPr txBox="true"/>
          <p:nvPr/>
        </p:nvSpPr>
        <p:spPr>
          <a:xfrm rot="0">
            <a:off x="1187358" y="7654671"/>
            <a:ext cx="8356104" cy="1034796"/>
          </a:xfrm>
          <a:prstGeom prst="rect">
            <a:avLst/>
          </a:prstGeom>
        </p:spPr>
        <p:txBody>
          <a:bodyPr anchor="t" rtlCol="false" tIns="0" lIns="0" bIns="0" rIns="0">
            <a:spAutoFit/>
          </a:bodyPr>
          <a:lstStyle/>
          <a:p>
            <a:pPr algn="l">
              <a:lnSpc>
                <a:spcPts val="2567"/>
              </a:lnSpc>
              <a:spcBef>
                <a:spcPct val="0"/>
              </a:spcBef>
            </a:pPr>
            <a:r>
              <a:rPr lang="en-US" b="true" sz="2399" spc="-105">
                <a:solidFill>
                  <a:srgbClr val="FFFFFF"/>
                </a:solidFill>
                <a:latin typeface="Montserrat Bold"/>
                <a:ea typeface="Montserrat Bold"/>
                <a:cs typeface="Montserrat Bold"/>
                <a:sym typeface="Montserrat Bold"/>
              </a:rPr>
              <a:t>T</a:t>
            </a:r>
            <a:r>
              <a:rPr lang="en-US" b="true" sz="2399" spc="-105">
                <a:solidFill>
                  <a:srgbClr val="FFFFFF"/>
                </a:solidFill>
                <a:latin typeface="Montserrat Bold"/>
                <a:ea typeface="Montserrat Bold"/>
                <a:cs typeface="Montserrat Bold"/>
                <a:sym typeface="Montserrat Bold"/>
              </a:rPr>
              <a:t>arget Goal: </a:t>
            </a:r>
          </a:p>
          <a:p>
            <a:pPr algn="l">
              <a:lnSpc>
                <a:spcPts val="1926"/>
              </a:lnSpc>
              <a:spcBef>
                <a:spcPct val="0"/>
              </a:spcBef>
            </a:pPr>
          </a:p>
          <a:p>
            <a:pPr algn="l">
              <a:lnSpc>
                <a:spcPts val="1926"/>
              </a:lnSpc>
              <a:spcBef>
                <a:spcPct val="0"/>
              </a:spcBef>
            </a:pPr>
            <a:r>
              <a:rPr lang="en-US" sz="1800" spc="-79">
                <a:solidFill>
                  <a:srgbClr val="FFFFFF"/>
                </a:solidFill>
                <a:latin typeface="Montserrat"/>
                <a:ea typeface="Montserrat"/>
                <a:cs typeface="Montserrat"/>
                <a:sym typeface="Montserrat"/>
              </a:rPr>
              <a:t>Guide early, volat</a:t>
            </a:r>
            <a:r>
              <a:rPr lang="en-US" sz="1800" spc="-79">
                <a:solidFill>
                  <a:srgbClr val="FFFFFF"/>
                </a:solidFill>
                <a:latin typeface="Montserrat"/>
                <a:ea typeface="Montserrat"/>
                <a:cs typeface="Montserrat"/>
                <a:sym typeface="Montserrat"/>
              </a:rPr>
              <a:t>ile accounts safely past their initial friction points to build long-term contract stability.</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false" rot="0">
            <a:off x="0" y="0"/>
            <a:ext cx="18288000" cy="10287000"/>
          </a:xfrm>
          <a:custGeom>
            <a:avLst/>
            <a:gdLst/>
            <a:ahLst/>
            <a:cxnLst/>
            <a:rect r="r" b="b" t="t" l="l"/>
            <a:pathLst>
              <a:path h="10287000" w="18288000">
                <a:moveTo>
                  <a:pt x="18288000" y="0"/>
                </a:moveTo>
                <a:lnTo>
                  <a:pt x="0" y="0"/>
                </a:lnTo>
                <a:lnTo>
                  <a:pt x="0" y="10287000"/>
                </a:lnTo>
                <a:lnTo>
                  <a:pt x="18288000" y="10287000"/>
                </a:lnTo>
                <a:lnTo>
                  <a:pt x="18288000" y="0"/>
                </a:lnTo>
                <a:close/>
              </a:path>
            </a:pathLst>
          </a:custGeom>
          <a:blipFill>
            <a:blip r:embed="rId2"/>
            <a:stretch>
              <a:fillRect l="0" t="-9222" r="0" b="-9222"/>
            </a:stretch>
          </a:blipFill>
        </p:spPr>
      </p:sp>
      <p:sp>
        <p:nvSpPr>
          <p:cNvPr name="Freeform 3" id="3"/>
          <p:cNvSpPr/>
          <p:nvPr/>
        </p:nvSpPr>
        <p:spPr>
          <a:xfrm flipH="false" flipV="false" rot="0">
            <a:off x="16655004" y="1203397"/>
            <a:ext cx="604296" cy="349393"/>
          </a:xfrm>
          <a:custGeom>
            <a:avLst/>
            <a:gdLst/>
            <a:ahLst/>
            <a:cxnLst/>
            <a:rect r="r" b="b" t="t" l="l"/>
            <a:pathLst>
              <a:path h="349393" w="604296">
                <a:moveTo>
                  <a:pt x="0" y="0"/>
                </a:moveTo>
                <a:lnTo>
                  <a:pt x="604296" y="0"/>
                </a:lnTo>
                <a:lnTo>
                  <a:pt x="604296" y="349393"/>
                </a:lnTo>
                <a:lnTo>
                  <a:pt x="0" y="34939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028700" y="2406793"/>
            <a:ext cx="6991893" cy="7880207"/>
          </a:xfrm>
          <a:custGeom>
            <a:avLst/>
            <a:gdLst/>
            <a:ahLst/>
            <a:cxnLst/>
            <a:rect r="r" b="b" t="t" l="l"/>
            <a:pathLst>
              <a:path h="7880207" w="6991893">
                <a:moveTo>
                  <a:pt x="0" y="0"/>
                </a:moveTo>
                <a:lnTo>
                  <a:pt x="6991893" y="0"/>
                </a:lnTo>
                <a:lnTo>
                  <a:pt x="6991893" y="7880207"/>
                </a:lnTo>
                <a:lnTo>
                  <a:pt x="0" y="7880207"/>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5" id="5"/>
          <p:cNvSpPr txBox="true"/>
          <p:nvPr/>
        </p:nvSpPr>
        <p:spPr>
          <a:xfrm rot="0">
            <a:off x="1028700" y="432832"/>
            <a:ext cx="14514279" cy="1976247"/>
          </a:xfrm>
          <a:prstGeom prst="rect">
            <a:avLst/>
          </a:prstGeom>
        </p:spPr>
        <p:txBody>
          <a:bodyPr anchor="t" rtlCol="false" tIns="0" lIns="0" bIns="0" rIns="0">
            <a:spAutoFit/>
          </a:bodyPr>
          <a:lstStyle/>
          <a:p>
            <a:pPr algn="l">
              <a:lnSpc>
                <a:spcPts val="7704"/>
              </a:lnSpc>
            </a:pPr>
            <a:r>
              <a:rPr lang="en-US" sz="7200" spc="-316" b="true">
                <a:solidFill>
                  <a:srgbClr val="FFFFFF"/>
                </a:solidFill>
                <a:latin typeface="Montserrat Bold"/>
                <a:ea typeface="Montserrat Bold"/>
                <a:cs typeface="Montserrat Bold"/>
                <a:sym typeface="Montserrat Bold"/>
              </a:rPr>
              <a:t>Strategy II – Structural Contra</a:t>
            </a:r>
            <a:r>
              <a:rPr lang="en-US" b="true" sz="7200" spc="-316">
                <a:solidFill>
                  <a:srgbClr val="FFFFFF"/>
                </a:solidFill>
                <a:latin typeface="Montserrat Bold"/>
                <a:ea typeface="Montserrat Bold"/>
                <a:cs typeface="Montserrat Bold"/>
                <a:sym typeface="Montserrat Bold"/>
              </a:rPr>
              <a:t>ct Migration</a:t>
            </a:r>
          </a:p>
        </p:txBody>
      </p:sp>
      <p:sp>
        <p:nvSpPr>
          <p:cNvPr name="TextBox 6" id="6"/>
          <p:cNvSpPr txBox="true"/>
          <p:nvPr/>
        </p:nvSpPr>
        <p:spPr>
          <a:xfrm rot="0">
            <a:off x="9144000" y="2754802"/>
            <a:ext cx="9144000" cy="1120521"/>
          </a:xfrm>
          <a:prstGeom prst="rect">
            <a:avLst/>
          </a:prstGeom>
        </p:spPr>
        <p:txBody>
          <a:bodyPr anchor="t" rtlCol="false" tIns="0" lIns="0" bIns="0" rIns="0">
            <a:spAutoFit/>
          </a:bodyPr>
          <a:lstStyle/>
          <a:p>
            <a:pPr algn="l">
              <a:lnSpc>
                <a:spcPts val="2568"/>
              </a:lnSpc>
              <a:spcBef>
                <a:spcPct val="0"/>
              </a:spcBef>
            </a:pPr>
            <a:r>
              <a:rPr lang="en-US" b="true" sz="2400" spc="-105">
                <a:solidFill>
                  <a:srgbClr val="FFFFFF"/>
                </a:solidFill>
                <a:latin typeface="Montserrat Bold"/>
                <a:ea typeface="Montserrat Bold"/>
                <a:cs typeface="Montserrat Bold"/>
                <a:sym typeface="Montserrat Bold"/>
              </a:rPr>
              <a:t>Strategic Play: </a:t>
            </a:r>
          </a:p>
          <a:p>
            <a:pPr algn="l">
              <a:lnSpc>
                <a:spcPts val="2568"/>
              </a:lnSpc>
              <a:spcBef>
                <a:spcPct val="0"/>
              </a:spcBef>
            </a:pPr>
          </a:p>
          <a:p>
            <a:pPr algn="l">
              <a:lnSpc>
                <a:spcPts val="1926"/>
              </a:lnSpc>
              <a:spcBef>
                <a:spcPct val="0"/>
              </a:spcBef>
            </a:pPr>
            <a:r>
              <a:rPr lang="en-US" sz="1800" spc="-79">
                <a:solidFill>
                  <a:srgbClr val="FFFFFF"/>
                </a:solidFill>
                <a:latin typeface="Montserrat"/>
                <a:ea typeface="Montserrat"/>
                <a:cs typeface="Montserrat"/>
                <a:sym typeface="Montserrat"/>
              </a:rPr>
              <a:t>Act</a:t>
            </a:r>
            <a:r>
              <a:rPr lang="en-US" sz="1800" spc="-79">
                <a:solidFill>
                  <a:srgbClr val="FFFFFF"/>
                </a:solidFill>
                <a:latin typeface="Montserrat"/>
                <a:ea typeface="Montserrat"/>
                <a:cs typeface="Montserrat"/>
                <a:sym typeface="Montserrat"/>
              </a:rPr>
              <a:t>ively close the customer exit funnel by migrating flexible accounts into fixed commitments</a:t>
            </a:r>
            <a:r>
              <a:rPr lang="en-US" sz="1800" spc="-79">
                <a:solidFill>
                  <a:srgbClr val="FFFFFF"/>
                </a:solidFill>
                <a:latin typeface="Montserrat"/>
                <a:ea typeface="Montserrat"/>
                <a:cs typeface="Montserrat"/>
                <a:sym typeface="Montserrat"/>
              </a:rPr>
              <a:t>.</a:t>
            </a:r>
          </a:p>
        </p:txBody>
      </p:sp>
      <p:sp>
        <p:nvSpPr>
          <p:cNvPr name="TextBox 7" id="7"/>
          <p:cNvSpPr txBox="true"/>
          <p:nvPr/>
        </p:nvSpPr>
        <p:spPr>
          <a:xfrm rot="0">
            <a:off x="9144000" y="4218223"/>
            <a:ext cx="8370538" cy="1120521"/>
          </a:xfrm>
          <a:prstGeom prst="rect">
            <a:avLst/>
          </a:prstGeom>
        </p:spPr>
        <p:txBody>
          <a:bodyPr anchor="t" rtlCol="false" tIns="0" lIns="0" bIns="0" rIns="0">
            <a:spAutoFit/>
          </a:bodyPr>
          <a:lstStyle/>
          <a:p>
            <a:pPr algn="l">
              <a:lnSpc>
                <a:spcPts val="2568"/>
              </a:lnSpc>
              <a:spcBef>
                <a:spcPct val="0"/>
              </a:spcBef>
            </a:pPr>
            <a:r>
              <a:rPr lang="en-US" b="true" sz="2400" spc="-105">
                <a:solidFill>
                  <a:srgbClr val="FFFFFF"/>
                </a:solidFill>
                <a:latin typeface="Montserrat Bold"/>
                <a:ea typeface="Montserrat Bold"/>
                <a:cs typeface="Montserrat Bold"/>
                <a:sym typeface="Montserrat Bold"/>
              </a:rPr>
              <a:t>Ac</a:t>
            </a:r>
            <a:r>
              <a:rPr lang="en-US" b="true" sz="2400" spc="-105">
                <a:solidFill>
                  <a:srgbClr val="FFFFFF"/>
                </a:solidFill>
                <a:latin typeface="Montserrat Bold"/>
                <a:ea typeface="Montserrat Bold"/>
                <a:cs typeface="Montserrat Bold"/>
                <a:sym typeface="Montserrat Bold"/>
              </a:rPr>
              <a:t>tion Plan:</a:t>
            </a:r>
          </a:p>
          <a:p>
            <a:pPr algn="l">
              <a:lnSpc>
                <a:spcPts val="2568"/>
              </a:lnSpc>
              <a:spcBef>
                <a:spcPct val="0"/>
              </a:spcBef>
            </a:pPr>
          </a:p>
          <a:p>
            <a:pPr algn="l">
              <a:lnSpc>
                <a:spcPts val="1926"/>
              </a:lnSpc>
              <a:spcBef>
                <a:spcPct val="0"/>
              </a:spcBef>
            </a:pPr>
            <a:r>
              <a:rPr lang="en-US" sz="1800" spc="-79">
                <a:solidFill>
                  <a:srgbClr val="FFFFFF"/>
                </a:solidFill>
                <a:latin typeface="Montserrat"/>
                <a:ea typeface="Montserrat"/>
                <a:cs typeface="Montserrat"/>
                <a:sym typeface="Montserrat"/>
              </a:rPr>
              <a:t>Launch a targeted promot</a:t>
            </a:r>
            <a:r>
              <a:rPr lang="en-US" sz="1800" spc="-79">
                <a:solidFill>
                  <a:srgbClr val="FFFFFF"/>
                </a:solidFill>
                <a:latin typeface="Montserrat"/>
                <a:ea typeface="Montserrat"/>
                <a:cs typeface="Montserrat"/>
                <a:sym typeface="Montserrat"/>
              </a:rPr>
              <a:t>ion offering a 10% monthly fee discount to Month-to-month users who commit to a stable 1-Year fixed contract term.</a:t>
            </a:r>
          </a:p>
        </p:txBody>
      </p:sp>
      <p:sp>
        <p:nvSpPr>
          <p:cNvPr name="TextBox 8" id="8"/>
          <p:cNvSpPr txBox="true"/>
          <p:nvPr/>
        </p:nvSpPr>
        <p:spPr>
          <a:xfrm rot="0">
            <a:off x="9144000" y="5805686"/>
            <a:ext cx="8370538" cy="1358646"/>
          </a:xfrm>
          <a:prstGeom prst="rect">
            <a:avLst/>
          </a:prstGeom>
        </p:spPr>
        <p:txBody>
          <a:bodyPr anchor="t" rtlCol="false" tIns="0" lIns="0" bIns="0" rIns="0">
            <a:spAutoFit/>
          </a:bodyPr>
          <a:lstStyle/>
          <a:p>
            <a:pPr algn="l">
              <a:lnSpc>
                <a:spcPts val="2568"/>
              </a:lnSpc>
              <a:spcBef>
                <a:spcPct val="0"/>
              </a:spcBef>
            </a:pPr>
            <a:r>
              <a:rPr lang="en-US" b="true" sz="2400" spc="-105">
                <a:solidFill>
                  <a:srgbClr val="FFFFFF"/>
                </a:solidFill>
                <a:latin typeface="Montserrat Bold"/>
                <a:ea typeface="Montserrat Bold"/>
                <a:cs typeface="Montserrat Bold"/>
                <a:sym typeface="Montserrat Bold"/>
              </a:rPr>
              <a:t>The Mathematical Justifica</a:t>
            </a:r>
            <a:r>
              <a:rPr lang="en-US" b="true" sz="2400" spc="-105">
                <a:solidFill>
                  <a:srgbClr val="FFFFFF"/>
                </a:solidFill>
                <a:latin typeface="Montserrat Bold"/>
                <a:ea typeface="Montserrat Bold"/>
                <a:cs typeface="Montserrat Bold"/>
                <a:sym typeface="Montserrat Bold"/>
              </a:rPr>
              <a:t>tion: </a:t>
            </a:r>
          </a:p>
          <a:p>
            <a:pPr algn="l">
              <a:lnSpc>
                <a:spcPts val="2568"/>
              </a:lnSpc>
              <a:spcBef>
                <a:spcPct val="0"/>
              </a:spcBef>
            </a:pPr>
          </a:p>
          <a:p>
            <a:pPr algn="l">
              <a:lnSpc>
                <a:spcPts val="1926"/>
              </a:lnSpc>
              <a:spcBef>
                <a:spcPct val="0"/>
              </a:spcBef>
            </a:pPr>
            <a:r>
              <a:rPr lang="en-US" sz="1800" spc="-79">
                <a:solidFill>
                  <a:srgbClr val="FFFFFF"/>
                </a:solidFill>
                <a:latin typeface="Montserrat"/>
                <a:ea typeface="Montserrat"/>
                <a:cs typeface="Montserrat"/>
                <a:sym typeface="Montserrat"/>
              </a:rPr>
              <a:t>While a 10% discount reduces immediate margins on paper, our regression model proves that fixed-term agreements act as the strongest barrier against account attrition</a:t>
            </a:r>
          </a:p>
        </p:txBody>
      </p:sp>
      <p:sp>
        <p:nvSpPr>
          <p:cNvPr name="TextBox 9" id="9"/>
          <p:cNvSpPr txBox="true"/>
          <p:nvPr/>
        </p:nvSpPr>
        <p:spPr>
          <a:xfrm rot="0">
            <a:off x="9144000" y="7507232"/>
            <a:ext cx="8370538" cy="1358646"/>
          </a:xfrm>
          <a:prstGeom prst="rect">
            <a:avLst/>
          </a:prstGeom>
        </p:spPr>
        <p:txBody>
          <a:bodyPr anchor="t" rtlCol="false" tIns="0" lIns="0" bIns="0" rIns="0">
            <a:spAutoFit/>
          </a:bodyPr>
          <a:lstStyle/>
          <a:p>
            <a:pPr algn="l">
              <a:lnSpc>
                <a:spcPts val="2568"/>
              </a:lnSpc>
              <a:spcBef>
                <a:spcPct val="0"/>
              </a:spcBef>
            </a:pPr>
            <a:r>
              <a:rPr lang="en-US" b="true" sz="2400" spc="-105">
                <a:solidFill>
                  <a:srgbClr val="FFFFFF"/>
                </a:solidFill>
                <a:latin typeface="Montserrat Bold"/>
                <a:ea typeface="Montserrat Bold"/>
                <a:cs typeface="Montserrat Bold"/>
                <a:sym typeface="Montserrat Bold"/>
              </a:rPr>
              <a:t>Target Goal</a:t>
            </a:r>
            <a:r>
              <a:rPr lang="en-US" b="true" sz="2400" spc="-105">
                <a:solidFill>
                  <a:srgbClr val="FFFFFF"/>
                </a:solidFill>
                <a:latin typeface="Montserrat Bold"/>
                <a:ea typeface="Montserrat Bold"/>
                <a:cs typeface="Montserrat Bold"/>
                <a:sym typeface="Montserrat Bold"/>
              </a:rPr>
              <a:t>:</a:t>
            </a:r>
          </a:p>
          <a:p>
            <a:pPr algn="l">
              <a:lnSpc>
                <a:spcPts val="2568"/>
              </a:lnSpc>
              <a:spcBef>
                <a:spcPct val="0"/>
              </a:spcBef>
            </a:pPr>
          </a:p>
          <a:p>
            <a:pPr algn="l">
              <a:lnSpc>
                <a:spcPts val="1926"/>
              </a:lnSpc>
              <a:spcBef>
                <a:spcPct val="0"/>
              </a:spcBef>
            </a:pPr>
            <a:r>
              <a:rPr lang="en-US" sz="1800" spc="-79">
                <a:solidFill>
                  <a:srgbClr val="FFFFFF"/>
                </a:solidFill>
                <a:latin typeface="Montserrat"/>
                <a:ea typeface="Montserrat"/>
                <a:cs typeface="Montserrat"/>
                <a:sym typeface="Montserrat"/>
              </a:rPr>
              <a:t>Secure pipeline stability and reclaim the unmitigated annualized revenue leak of $82,536.00.</a:t>
            </a:r>
          </a:p>
          <a:p>
            <a:pPr algn="l">
              <a:lnSpc>
                <a:spcPts val="1926"/>
              </a:lnSpc>
              <a:spcBef>
                <a:spcPct val="0"/>
              </a:spcBef>
            </a:pP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false" rot="0">
            <a:off x="0" y="0"/>
            <a:ext cx="18288000" cy="10287000"/>
          </a:xfrm>
          <a:custGeom>
            <a:avLst/>
            <a:gdLst/>
            <a:ahLst/>
            <a:cxnLst/>
            <a:rect r="r" b="b" t="t" l="l"/>
            <a:pathLst>
              <a:path h="10287000" w="18288000">
                <a:moveTo>
                  <a:pt x="18288000" y="0"/>
                </a:moveTo>
                <a:lnTo>
                  <a:pt x="0" y="0"/>
                </a:lnTo>
                <a:lnTo>
                  <a:pt x="0" y="10287000"/>
                </a:lnTo>
                <a:lnTo>
                  <a:pt x="18288000" y="10287000"/>
                </a:lnTo>
                <a:lnTo>
                  <a:pt x="18288000" y="0"/>
                </a:lnTo>
                <a:close/>
              </a:path>
            </a:pathLst>
          </a:custGeom>
          <a:blipFill>
            <a:blip r:embed="rId2"/>
            <a:stretch>
              <a:fillRect l="0" t="-9222" r="0" b="-9222"/>
            </a:stretch>
          </a:blipFill>
        </p:spPr>
      </p:sp>
      <p:sp>
        <p:nvSpPr>
          <p:cNvPr name="Freeform 3" id="3"/>
          <p:cNvSpPr/>
          <p:nvPr/>
        </p:nvSpPr>
        <p:spPr>
          <a:xfrm flipH="false" flipV="false" rot="0">
            <a:off x="16655004" y="1203397"/>
            <a:ext cx="604296" cy="349393"/>
          </a:xfrm>
          <a:custGeom>
            <a:avLst/>
            <a:gdLst/>
            <a:ahLst/>
            <a:cxnLst/>
            <a:rect r="r" b="b" t="t" l="l"/>
            <a:pathLst>
              <a:path h="349393" w="604296">
                <a:moveTo>
                  <a:pt x="0" y="0"/>
                </a:moveTo>
                <a:lnTo>
                  <a:pt x="604296" y="0"/>
                </a:lnTo>
                <a:lnTo>
                  <a:pt x="604296" y="349393"/>
                </a:lnTo>
                <a:lnTo>
                  <a:pt x="0" y="34939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028700" y="2852131"/>
            <a:ext cx="15928452" cy="2726429"/>
          </a:xfrm>
          <a:custGeom>
            <a:avLst/>
            <a:gdLst/>
            <a:ahLst/>
            <a:cxnLst/>
            <a:rect r="r" b="b" t="t" l="l"/>
            <a:pathLst>
              <a:path h="2726429" w="15928452">
                <a:moveTo>
                  <a:pt x="0" y="0"/>
                </a:moveTo>
                <a:lnTo>
                  <a:pt x="15928452" y="0"/>
                </a:lnTo>
                <a:lnTo>
                  <a:pt x="15928452" y="2726429"/>
                </a:lnTo>
                <a:lnTo>
                  <a:pt x="0" y="2726429"/>
                </a:lnTo>
                <a:lnTo>
                  <a:pt x="0" y="0"/>
                </a:lnTo>
                <a:close/>
              </a:path>
            </a:pathLst>
          </a:custGeom>
          <a:blipFill>
            <a:blip r:embed="rId5"/>
            <a:stretch>
              <a:fillRect l="0" t="-20472" r="0" b="-20472"/>
            </a:stretch>
          </a:blipFill>
        </p:spPr>
      </p:sp>
      <p:sp>
        <p:nvSpPr>
          <p:cNvPr name="TextBox 5" id="5"/>
          <p:cNvSpPr txBox="true"/>
          <p:nvPr/>
        </p:nvSpPr>
        <p:spPr>
          <a:xfrm rot="0">
            <a:off x="4268240" y="569214"/>
            <a:ext cx="14624331" cy="1004697"/>
          </a:xfrm>
          <a:prstGeom prst="rect">
            <a:avLst/>
          </a:prstGeom>
        </p:spPr>
        <p:txBody>
          <a:bodyPr anchor="t" rtlCol="false" tIns="0" lIns="0" bIns="0" rIns="0">
            <a:spAutoFit/>
          </a:bodyPr>
          <a:lstStyle/>
          <a:p>
            <a:pPr algn="l">
              <a:lnSpc>
                <a:spcPts val="7704"/>
              </a:lnSpc>
            </a:pPr>
            <a:r>
              <a:rPr lang="en-US" sz="7200" spc="-316" b="true">
                <a:solidFill>
                  <a:srgbClr val="FFFFFF"/>
                </a:solidFill>
                <a:latin typeface="Montserrat Bold"/>
                <a:ea typeface="Montserrat Bold"/>
                <a:cs typeface="Montserrat Bold"/>
                <a:sym typeface="Montserrat Bold"/>
              </a:rPr>
              <a:t>Tactical Roadmap </a:t>
            </a:r>
          </a:p>
        </p:txBody>
      </p:sp>
      <p:sp>
        <p:nvSpPr>
          <p:cNvPr name="TextBox 6" id="6"/>
          <p:cNvSpPr txBox="true"/>
          <p:nvPr/>
        </p:nvSpPr>
        <p:spPr>
          <a:xfrm rot="0">
            <a:off x="604631" y="7135720"/>
            <a:ext cx="6735017" cy="1554931"/>
          </a:xfrm>
          <a:prstGeom prst="rect">
            <a:avLst/>
          </a:prstGeom>
        </p:spPr>
        <p:txBody>
          <a:bodyPr anchor="t" rtlCol="false" tIns="0" lIns="0" bIns="0" rIns="0">
            <a:spAutoFit/>
          </a:bodyPr>
          <a:lstStyle/>
          <a:p>
            <a:pPr algn="just">
              <a:lnSpc>
                <a:spcPts val="2495"/>
              </a:lnSpc>
              <a:spcBef>
                <a:spcPct val="0"/>
              </a:spcBef>
            </a:pPr>
            <a:r>
              <a:rPr lang="en-US" sz="1782">
                <a:solidFill>
                  <a:srgbClr val="FFFFFF"/>
                </a:solidFill>
                <a:latin typeface="Montserrat"/>
                <a:ea typeface="Montserrat"/>
                <a:cs typeface="Montserrat"/>
                <a:sym typeface="Montserrat"/>
              </a:rPr>
              <a:t>Weeks 1–2: Enf</a:t>
            </a:r>
            <a:r>
              <a:rPr lang="en-US" sz="1782">
                <a:solidFill>
                  <a:srgbClr val="FFFFFF"/>
                </a:solidFill>
                <a:latin typeface="Montserrat"/>
                <a:ea typeface="Montserrat"/>
                <a:cs typeface="Montserrat"/>
                <a:sym typeface="Montserrat"/>
              </a:rPr>
              <a:t>orce automated text cleaning, header standardization, and deduplication logic directly into core CRM ingestion pipelines.</a:t>
            </a:r>
          </a:p>
          <a:p>
            <a:pPr algn="just">
              <a:lnSpc>
                <a:spcPts val="2495"/>
              </a:lnSpc>
              <a:spcBef>
                <a:spcPct val="0"/>
              </a:spcBef>
            </a:pPr>
          </a:p>
          <a:p>
            <a:pPr algn="just">
              <a:lnSpc>
                <a:spcPts val="2495"/>
              </a:lnSpc>
              <a:spcBef>
                <a:spcPct val="0"/>
              </a:spcBef>
            </a:pPr>
          </a:p>
        </p:txBody>
      </p:sp>
      <p:sp>
        <p:nvSpPr>
          <p:cNvPr name="TextBox 7" id="7"/>
          <p:cNvSpPr txBox="true"/>
          <p:nvPr/>
        </p:nvSpPr>
        <p:spPr>
          <a:xfrm rot="0">
            <a:off x="10222135" y="6956004"/>
            <a:ext cx="6735017" cy="1554931"/>
          </a:xfrm>
          <a:prstGeom prst="rect">
            <a:avLst/>
          </a:prstGeom>
        </p:spPr>
        <p:txBody>
          <a:bodyPr anchor="t" rtlCol="false" tIns="0" lIns="0" bIns="0" rIns="0">
            <a:spAutoFit/>
          </a:bodyPr>
          <a:lstStyle/>
          <a:p>
            <a:pPr algn="just">
              <a:lnSpc>
                <a:spcPts val="2495"/>
              </a:lnSpc>
              <a:spcBef>
                <a:spcPct val="0"/>
              </a:spcBef>
            </a:pPr>
          </a:p>
          <a:p>
            <a:pPr algn="just">
              <a:lnSpc>
                <a:spcPts val="2495"/>
              </a:lnSpc>
              <a:spcBef>
                <a:spcPct val="0"/>
              </a:spcBef>
            </a:pPr>
            <a:r>
              <a:rPr lang="en-US" sz="1782">
                <a:solidFill>
                  <a:srgbClr val="FFFFFF"/>
                </a:solidFill>
                <a:latin typeface="Montserrat"/>
                <a:ea typeface="Montserrat"/>
                <a:cs typeface="Montserrat"/>
                <a:sym typeface="Montserrat"/>
              </a:rPr>
              <a:t>Weeks 3–5: Deploy automated milestone-tracking triggers within customer success team dashboards.</a:t>
            </a:r>
          </a:p>
          <a:p>
            <a:pPr algn="just">
              <a:lnSpc>
                <a:spcPts val="2495"/>
              </a:lnSpc>
              <a:spcBef>
                <a:spcPct val="0"/>
              </a:spcBef>
            </a:pPr>
          </a:p>
          <a:p>
            <a:pPr algn="just">
              <a:lnSpc>
                <a:spcPts val="2495"/>
              </a:lnSpc>
              <a:spcBef>
                <a:spcPct val="0"/>
              </a:spcBef>
            </a:pPr>
          </a:p>
        </p:txBody>
      </p:sp>
      <p:sp>
        <p:nvSpPr>
          <p:cNvPr name="TextBox 8" id="8"/>
          <p:cNvSpPr txBox="true"/>
          <p:nvPr/>
        </p:nvSpPr>
        <p:spPr>
          <a:xfrm rot="0">
            <a:off x="5625418" y="8482360"/>
            <a:ext cx="6735017" cy="1240606"/>
          </a:xfrm>
          <a:prstGeom prst="rect">
            <a:avLst/>
          </a:prstGeom>
        </p:spPr>
        <p:txBody>
          <a:bodyPr anchor="t" rtlCol="false" tIns="0" lIns="0" bIns="0" rIns="0">
            <a:spAutoFit/>
          </a:bodyPr>
          <a:lstStyle/>
          <a:p>
            <a:pPr algn="just">
              <a:lnSpc>
                <a:spcPts val="2495"/>
              </a:lnSpc>
              <a:spcBef>
                <a:spcPct val="0"/>
              </a:spcBef>
            </a:pPr>
          </a:p>
          <a:p>
            <a:pPr algn="just">
              <a:lnSpc>
                <a:spcPts val="2495"/>
              </a:lnSpc>
              <a:spcBef>
                <a:spcPct val="0"/>
              </a:spcBef>
            </a:pPr>
            <a:r>
              <a:rPr lang="en-US" sz="1782">
                <a:solidFill>
                  <a:srgbClr val="FFFFFF"/>
                </a:solidFill>
                <a:latin typeface="Montserrat"/>
                <a:ea typeface="Montserrat"/>
                <a:cs typeface="Montserrat"/>
                <a:sym typeface="Montserrat"/>
              </a:rPr>
              <a:t>Weeks 6–8: Roll out the contract migration discount campaign to high-risk Month-to-month tiers.</a:t>
            </a:r>
          </a:p>
          <a:p>
            <a:pPr algn="just">
              <a:lnSpc>
                <a:spcPts val="2495"/>
              </a:lnSpc>
              <a:spcBef>
                <a:spcPct val="0"/>
              </a:spcBef>
            </a:pP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false" rot="0">
            <a:off x="0" y="0"/>
            <a:ext cx="18288000" cy="10287000"/>
          </a:xfrm>
          <a:custGeom>
            <a:avLst/>
            <a:gdLst/>
            <a:ahLst/>
            <a:cxnLst/>
            <a:rect r="r" b="b" t="t" l="l"/>
            <a:pathLst>
              <a:path h="10287000" w="18288000">
                <a:moveTo>
                  <a:pt x="18288000" y="0"/>
                </a:moveTo>
                <a:lnTo>
                  <a:pt x="0" y="0"/>
                </a:lnTo>
                <a:lnTo>
                  <a:pt x="0" y="10287000"/>
                </a:lnTo>
                <a:lnTo>
                  <a:pt x="18288000" y="10287000"/>
                </a:lnTo>
                <a:lnTo>
                  <a:pt x="18288000" y="0"/>
                </a:lnTo>
                <a:close/>
              </a:path>
            </a:pathLst>
          </a:custGeom>
          <a:blipFill>
            <a:blip r:embed="rId2"/>
            <a:stretch>
              <a:fillRect l="0" t="-9222" r="0" b="-9222"/>
            </a:stretch>
          </a:blipFill>
        </p:spPr>
      </p:sp>
      <p:sp>
        <p:nvSpPr>
          <p:cNvPr name="Freeform 3" id="3"/>
          <p:cNvSpPr/>
          <p:nvPr/>
        </p:nvSpPr>
        <p:spPr>
          <a:xfrm flipH="false" flipV="false" rot="0">
            <a:off x="16655004" y="1203397"/>
            <a:ext cx="604296" cy="349393"/>
          </a:xfrm>
          <a:custGeom>
            <a:avLst/>
            <a:gdLst/>
            <a:ahLst/>
            <a:cxnLst/>
            <a:rect r="r" b="b" t="t" l="l"/>
            <a:pathLst>
              <a:path h="349393" w="604296">
                <a:moveTo>
                  <a:pt x="0" y="0"/>
                </a:moveTo>
                <a:lnTo>
                  <a:pt x="604296" y="0"/>
                </a:lnTo>
                <a:lnTo>
                  <a:pt x="604296" y="349393"/>
                </a:lnTo>
                <a:lnTo>
                  <a:pt x="0" y="34939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1810644" y="2493603"/>
            <a:ext cx="5448656" cy="6764697"/>
          </a:xfrm>
          <a:custGeom>
            <a:avLst/>
            <a:gdLst/>
            <a:ahLst/>
            <a:cxnLst/>
            <a:rect r="r" b="b" t="t" l="l"/>
            <a:pathLst>
              <a:path h="6764697" w="5448656">
                <a:moveTo>
                  <a:pt x="0" y="0"/>
                </a:moveTo>
                <a:lnTo>
                  <a:pt x="5448656" y="0"/>
                </a:lnTo>
                <a:lnTo>
                  <a:pt x="5448656" y="6764697"/>
                </a:lnTo>
                <a:lnTo>
                  <a:pt x="0" y="6764697"/>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5" id="5"/>
          <p:cNvSpPr/>
          <p:nvPr/>
        </p:nvSpPr>
        <p:spPr>
          <a:xfrm flipH="false" flipV="false" rot="0">
            <a:off x="9979382" y="2493603"/>
            <a:ext cx="1070052" cy="6764697"/>
          </a:xfrm>
          <a:custGeom>
            <a:avLst/>
            <a:gdLst/>
            <a:ahLst/>
            <a:cxnLst/>
            <a:rect r="r" b="b" t="t" l="l"/>
            <a:pathLst>
              <a:path h="6764697" w="1070052">
                <a:moveTo>
                  <a:pt x="0" y="0"/>
                </a:moveTo>
                <a:lnTo>
                  <a:pt x="1070052" y="0"/>
                </a:lnTo>
                <a:lnTo>
                  <a:pt x="1070052" y="6764697"/>
                </a:lnTo>
                <a:lnTo>
                  <a:pt x="0" y="6764697"/>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6" id="6"/>
          <p:cNvSpPr txBox="true"/>
          <p:nvPr/>
        </p:nvSpPr>
        <p:spPr>
          <a:xfrm rot="0">
            <a:off x="1187358" y="743911"/>
            <a:ext cx="10809827" cy="1004697"/>
          </a:xfrm>
          <a:prstGeom prst="rect">
            <a:avLst/>
          </a:prstGeom>
        </p:spPr>
        <p:txBody>
          <a:bodyPr anchor="t" rtlCol="false" tIns="0" lIns="0" bIns="0" rIns="0">
            <a:spAutoFit/>
          </a:bodyPr>
          <a:lstStyle/>
          <a:p>
            <a:pPr algn="l">
              <a:lnSpc>
                <a:spcPts val="7704"/>
              </a:lnSpc>
            </a:pPr>
            <a:r>
              <a:rPr lang="en-US" sz="7200" spc="-316" b="true">
                <a:solidFill>
                  <a:srgbClr val="FFFFFF"/>
                </a:solidFill>
                <a:latin typeface="Montserrat Bold"/>
                <a:ea typeface="Montserrat Bold"/>
                <a:cs typeface="Montserrat Bold"/>
                <a:sym typeface="Montserrat Bold"/>
              </a:rPr>
              <a:t>Conclusion</a:t>
            </a:r>
          </a:p>
        </p:txBody>
      </p:sp>
      <p:sp>
        <p:nvSpPr>
          <p:cNvPr name="TextBox 7" id="7"/>
          <p:cNvSpPr txBox="true"/>
          <p:nvPr/>
        </p:nvSpPr>
        <p:spPr>
          <a:xfrm rot="0">
            <a:off x="1187358" y="1924393"/>
            <a:ext cx="8030024" cy="7841431"/>
          </a:xfrm>
          <a:prstGeom prst="rect">
            <a:avLst/>
          </a:prstGeom>
        </p:spPr>
        <p:txBody>
          <a:bodyPr anchor="t" rtlCol="false" tIns="0" lIns="0" bIns="0" rIns="0">
            <a:spAutoFit/>
          </a:bodyPr>
          <a:lstStyle/>
          <a:p>
            <a:pPr algn="just">
              <a:lnSpc>
                <a:spcPts val="2495"/>
              </a:lnSpc>
              <a:spcBef>
                <a:spcPct val="0"/>
              </a:spcBef>
            </a:pPr>
            <a:r>
              <a:rPr lang="en-US" sz="1782">
                <a:solidFill>
                  <a:srgbClr val="FFFFFF"/>
                </a:solidFill>
                <a:latin typeface="Montserrat"/>
                <a:ea typeface="Montserrat"/>
                <a:cs typeface="Montserrat"/>
                <a:sym typeface="Montserrat"/>
              </a:rPr>
              <a:t>Th</a:t>
            </a:r>
            <a:r>
              <a:rPr lang="en-US" sz="1782">
                <a:solidFill>
                  <a:srgbClr val="FFFFFF"/>
                </a:solidFill>
                <a:latin typeface="Montserrat"/>
                <a:ea typeface="Montserrat"/>
                <a:cs typeface="Montserrat"/>
                <a:sym typeface="Montserrat"/>
              </a:rPr>
              <a:t>is analytics pipeline successfully bridges the gap between raw code engineering and executive execution, providing a repeatable, data-proven blueprint for sustained portfolio growth.Localized diagnostics reveal that our 10.60% macroscopic churn rate is heavily concentrated among premium accounts, creating an immediate leak of $6,878.00 in Monthly Recurring Revenue (MRR) and an annualized capital exposure of $82,536.00.</a:t>
            </a:r>
          </a:p>
          <a:p>
            <a:pPr algn="just">
              <a:lnSpc>
                <a:spcPts val="2495"/>
              </a:lnSpc>
              <a:spcBef>
                <a:spcPct val="0"/>
              </a:spcBef>
            </a:pPr>
          </a:p>
          <a:p>
            <a:pPr algn="just">
              <a:lnSpc>
                <a:spcPts val="2495"/>
              </a:lnSpc>
              <a:spcBef>
                <a:spcPct val="0"/>
              </a:spcBef>
            </a:pPr>
          </a:p>
          <a:p>
            <a:pPr algn="just">
              <a:lnSpc>
                <a:spcPts val="2495"/>
              </a:lnSpc>
              <a:spcBef>
                <a:spcPct val="0"/>
              </a:spcBef>
            </a:pPr>
            <a:r>
              <a:rPr lang="en-US" sz="1782">
                <a:solidFill>
                  <a:srgbClr val="FFFFFF"/>
                </a:solidFill>
                <a:latin typeface="Montserrat"/>
                <a:ea typeface="Montserrat"/>
                <a:cs typeface="Montserrat"/>
                <a:sym typeface="Montserrat"/>
              </a:rPr>
              <a:t>T-Test and multivariate logistic regression mathematically verify a critical "onboarding risk cliff" within the initial six months, proving that premium pricing acts as a continuous risk multiplier while longer tenure and fixed-term contracts serve as our strongest statistical shields. To reclaim this lost revenue, our strategic blueprint deploys automated, milestone-based customer success triggers at months 2 and 5 to guide volatile accounts past the early risk cliff, alongside targeted campaigns offering a 10% discount to migrate month-to-month users into stable 1-Year contracts (reducing their risk profiles by over 80%). </a:t>
            </a:r>
          </a:p>
          <a:p>
            <a:pPr algn="just">
              <a:lnSpc>
                <a:spcPts val="2495"/>
              </a:lnSpc>
              <a:spcBef>
                <a:spcPct val="0"/>
              </a:spcBef>
            </a:pPr>
          </a:p>
          <a:p>
            <a:pPr algn="just">
              <a:lnSpc>
                <a:spcPts val="2495"/>
              </a:lnSpc>
              <a:spcBef>
                <a:spcPct val="0"/>
              </a:spcBef>
            </a:pPr>
            <a:r>
              <a:rPr lang="en-US" sz="1782">
                <a:solidFill>
                  <a:srgbClr val="FFFFFF"/>
                </a:solidFill>
                <a:latin typeface="Montserrat"/>
                <a:ea typeface="Montserrat"/>
                <a:cs typeface="Montserrat"/>
                <a:sym typeface="Montserrat"/>
              </a:rPr>
              <a:t>This roadmap executes over an 8-week horizon: Weeks 1–2 embed automated data cleaning and deduplication into the pipeline architecture, Weeks 3–5 configure CRM alerts for proactive customer success outreach, and Weeks 6–8 launch the contract migration campaign to secure long-term revenue predictability.</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false" rot="0">
            <a:off x="0" y="0"/>
            <a:ext cx="18288000" cy="10287000"/>
          </a:xfrm>
          <a:custGeom>
            <a:avLst/>
            <a:gdLst/>
            <a:ahLst/>
            <a:cxnLst/>
            <a:rect r="r" b="b" t="t" l="l"/>
            <a:pathLst>
              <a:path h="10287000" w="18288000">
                <a:moveTo>
                  <a:pt x="18288000" y="0"/>
                </a:moveTo>
                <a:lnTo>
                  <a:pt x="0" y="0"/>
                </a:lnTo>
                <a:lnTo>
                  <a:pt x="0" y="10287000"/>
                </a:lnTo>
                <a:lnTo>
                  <a:pt x="18288000" y="10287000"/>
                </a:lnTo>
                <a:lnTo>
                  <a:pt x="18288000" y="0"/>
                </a:lnTo>
                <a:close/>
              </a:path>
            </a:pathLst>
          </a:custGeom>
          <a:blipFill>
            <a:blip r:embed="rId2"/>
            <a:stretch>
              <a:fillRect l="0" t="-9222" r="0" b="-9222"/>
            </a:stretch>
          </a:blipFill>
        </p:spPr>
      </p:sp>
      <p:sp>
        <p:nvSpPr>
          <p:cNvPr name="Freeform 3" id="3"/>
          <p:cNvSpPr/>
          <p:nvPr/>
        </p:nvSpPr>
        <p:spPr>
          <a:xfrm flipH="false" flipV="false" rot="0">
            <a:off x="16655004" y="1203397"/>
            <a:ext cx="604296" cy="349393"/>
          </a:xfrm>
          <a:custGeom>
            <a:avLst/>
            <a:gdLst/>
            <a:ahLst/>
            <a:cxnLst/>
            <a:rect r="r" b="b" t="t" l="l"/>
            <a:pathLst>
              <a:path h="349393" w="604296">
                <a:moveTo>
                  <a:pt x="0" y="0"/>
                </a:moveTo>
                <a:lnTo>
                  <a:pt x="604296" y="0"/>
                </a:lnTo>
                <a:lnTo>
                  <a:pt x="604296" y="349393"/>
                </a:lnTo>
                <a:lnTo>
                  <a:pt x="0" y="34939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3039847" y="2344687"/>
            <a:ext cx="4817277" cy="7980428"/>
          </a:xfrm>
          <a:custGeom>
            <a:avLst/>
            <a:gdLst/>
            <a:ahLst/>
            <a:cxnLst/>
            <a:rect r="r" b="b" t="t" l="l"/>
            <a:pathLst>
              <a:path h="7980428" w="4817277">
                <a:moveTo>
                  <a:pt x="0" y="0"/>
                </a:moveTo>
                <a:lnTo>
                  <a:pt x="4817277" y="0"/>
                </a:lnTo>
                <a:lnTo>
                  <a:pt x="4817277" y="7980428"/>
                </a:lnTo>
                <a:lnTo>
                  <a:pt x="0" y="7980428"/>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5" id="5"/>
          <p:cNvSpPr/>
          <p:nvPr/>
        </p:nvSpPr>
        <p:spPr>
          <a:xfrm flipH="false" flipV="false" rot="0">
            <a:off x="10205089" y="7439239"/>
            <a:ext cx="2546686" cy="3638123"/>
          </a:xfrm>
          <a:custGeom>
            <a:avLst/>
            <a:gdLst/>
            <a:ahLst/>
            <a:cxnLst/>
            <a:rect r="r" b="b" t="t" l="l"/>
            <a:pathLst>
              <a:path h="3638123" w="2546686">
                <a:moveTo>
                  <a:pt x="0" y="0"/>
                </a:moveTo>
                <a:lnTo>
                  <a:pt x="2546686" y="0"/>
                </a:lnTo>
                <a:lnTo>
                  <a:pt x="2546686" y="3638122"/>
                </a:lnTo>
                <a:lnTo>
                  <a:pt x="0" y="3638122"/>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6" id="6"/>
          <p:cNvSpPr/>
          <p:nvPr/>
        </p:nvSpPr>
        <p:spPr>
          <a:xfrm flipH="false" flipV="false" rot="0">
            <a:off x="11306629" y="1217473"/>
            <a:ext cx="2890291" cy="2254427"/>
          </a:xfrm>
          <a:custGeom>
            <a:avLst/>
            <a:gdLst/>
            <a:ahLst/>
            <a:cxnLst/>
            <a:rect r="r" b="b" t="t" l="l"/>
            <a:pathLst>
              <a:path h="2254427" w="2890291">
                <a:moveTo>
                  <a:pt x="0" y="0"/>
                </a:moveTo>
                <a:lnTo>
                  <a:pt x="2890291" y="0"/>
                </a:lnTo>
                <a:lnTo>
                  <a:pt x="2890291" y="2254427"/>
                </a:lnTo>
                <a:lnTo>
                  <a:pt x="0" y="2254427"/>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TextBox 7" id="7"/>
          <p:cNvSpPr txBox="true"/>
          <p:nvPr/>
        </p:nvSpPr>
        <p:spPr>
          <a:xfrm rot="0">
            <a:off x="1187358" y="4325359"/>
            <a:ext cx="10291074" cy="1503045"/>
          </a:xfrm>
          <a:prstGeom prst="rect">
            <a:avLst/>
          </a:prstGeom>
        </p:spPr>
        <p:txBody>
          <a:bodyPr anchor="t" rtlCol="false" tIns="0" lIns="0" bIns="0" rIns="0">
            <a:spAutoFit/>
          </a:bodyPr>
          <a:lstStyle/>
          <a:p>
            <a:pPr algn="l">
              <a:lnSpc>
                <a:spcPts val="11040"/>
              </a:lnSpc>
            </a:pPr>
            <a:r>
              <a:rPr lang="en-US" b="true" sz="12000" spc="-527">
                <a:solidFill>
                  <a:srgbClr val="FFFFFF"/>
                </a:solidFill>
                <a:latin typeface="Montserrat Bold"/>
                <a:ea typeface="Montserrat Bold"/>
                <a:cs typeface="Montserrat Bold"/>
                <a:sym typeface="Montserrat Bold"/>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DAHLiVWrivQ</dc:identifier>
  <dcterms:modified xsi:type="dcterms:W3CDTF">2011-08-01T06:04:30Z</dcterms:modified>
  <cp:revision>1</cp:revision>
  <dc:title>Business Analytics</dc:title>
</cp:coreProperties>
</file>